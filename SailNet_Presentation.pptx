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
      <p:font typeface="DM Serif Display" pitchFamily="2" charset="0"/>
      <p:regular r:id="rId20"/>
      <p:italic r:id="rId21"/>
    </p:embeddedFont>
    <p:embeddedFont>
      <p:font typeface="Open Sauce" panose="020B0604020202020204" charset="0"/>
      <p:regular r:id="rId22"/>
    </p:embeddedFont>
    <p:embeddedFont>
      <p:font typeface="Open Sauce Bold" panose="020B0604020202020204" charset="0"/>
      <p:regular r:id="rId23"/>
    </p:embeddedFont>
    <p:embeddedFont>
      <p:font typeface="Open Sauce Heavy"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9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545" autoAdjust="0"/>
    <p:restoredTop sz="96157" autoAdjust="0"/>
  </p:normalViewPr>
  <p:slideViewPr>
    <p:cSldViewPr>
      <p:cViewPr>
        <p:scale>
          <a:sx n="64" d="100"/>
          <a:sy n="64" d="100"/>
        </p:scale>
        <p:origin x="656" y="1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91C4B-C081-4F17-8067-1D7100DE7DE7}" type="datetimeFigureOut">
              <a:rPr lang="it-IT" smtClean="0"/>
              <a:t>21/06/2026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6C72E0-B14D-4E6F-AE0B-AA6547551785}" type="slidenum">
              <a:rPr lang="it-IT" smtClean="0"/>
              <a:t>‹N›</a:t>
            </a:fld>
            <a:endParaRPr lang="it-IT"/>
          </a:p>
        </p:txBody>
      </p:sp>
    </p:spTree>
    <p:extLst>
      <p:ext uri="{BB962C8B-B14F-4D97-AF65-F5344CB8AC3E}">
        <p14:creationId xmlns:p14="http://schemas.microsoft.com/office/powerpoint/2010/main" val="142001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7</a:t>
            </a:fld>
            <a:endParaRPr lang="it-IT"/>
          </a:p>
        </p:txBody>
      </p:sp>
    </p:spTree>
    <p:extLst>
      <p:ext uri="{BB962C8B-B14F-4D97-AF65-F5344CB8AC3E}">
        <p14:creationId xmlns:p14="http://schemas.microsoft.com/office/powerpoint/2010/main" val="135292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8</a:t>
            </a:fld>
            <a:endParaRPr lang="it-IT"/>
          </a:p>
        </p:txBody>
      </p:sp>
    </p:spTree>
    <p:extLst>
      <p:ext uri="{BB962C8B-B14F-4D97-AF65-F5344CB8AC3E}">
        <p14:creationId xmlns:p14="http://schemas.microsoft.com/office/powerpoint/2010/main" val="718417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9</a:t>
            </a:fld>
            <a:endParaRPr lang="it-IT"/>
          </a:p>
        </p:txBody>
      </p:sp>
    </p:spTree>
    <p:extLst>
      <p:ext uri="{BB962C8B-B14F-4D97-AF65-F5344CB8AC3E}">
        <p14:creationId xmlns:p14="http://schemas.microsoft.com/office/powerpoint/2010/main" val="3122061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10</a:t>
            </a:fld>
            <a:endParaRPr lang="it-IT"/>
          </a:p>
        </p:txBody>
      </p:sp>
    </p:spTree>
    <p:extLst>
      <p:ext uri="{BB962C8B-B14F-4D97-AF65-F5344CB8AC3E}">
        <p14:creationId xmlns:p14="http://schemas.microsoft.com/office/powerpoint/2010/main" val="3906305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11</a:t>
            </a:fld>
            <a:endParaRPr lang="it-IT"/>
          </a:p>
        </p:txBody>
      </p:sp>
    </p:spTree>
    <p:extLst>
      <p:ext uri="{BB962C8B-B14F-4D97-AF65-F5344CB8AC3E}">
        <p14:creationId xmlns:p14="http://schemas.microsoft.com/office/powerpoint/2010/main" val="91132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12</a:t>
            </a:fld>
            <a:endParaRPr lang="it-IT"/>
          </a:p>
        </p:txBody>
      </p:sp>
    </p:spTree>
    <p:extLst>
      <p:ext uri="{BB962C8B-B14F-4D97-AF65-F5344CB8AC3E}">
        <p14:creationId xmlns:p14="http://schemas.microsoft.com/office/powerpoint/2010/main" val="551632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13</a:t>
            </a:fld>
            <a:endParaRPr lang="it-IT"/>
          </a:p>
        </p:txBody>
      </p:sp>
    </p:spTree>
    <p:extLst>
      <p:ext uri="{BB962C8B-B14F-4D97-AF65-F5344CB8AC3E}">
        <p14:creationId xmlns:p14="http://schemas.microsoft.com/office/powerpoint/2010/main" val="2865653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76C72E0-B14D-4E6F-AE0B-AA6547551785}" type="slidenum">
              <a:rPr lang="it-IT" smtClean="0"/>
              <a:t>15</a:t>
            </a:fld>
            <a:endParaRPr lang="it-IT"/>
          </a:p>
        </p:txBody>
      </p:sp>
    </p:spTree>
    <p:extLst>
      <p:ext uri="{BB962C8B-B14F-4D97-AF65-F5344CB8AC3E}">
        <p14:creationId xmlns:p14="http://schemas.microsoft.com/office/powerpoint/2010/main" val="111817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C5C5E"/>
        </a:solidFill>
        <a:effectLst/>
      </p:bgPr>
    </p:bg>
    <p:spTree>
      <p:nvGrpSpPr>
        <p:cNvPr id="1" name=""/>
        <p:cNvGrpSpPr/>
        <p:nvPr/>
      </p:nvGrpSpPr>
      <p:grpSpPr>
        <a:xfrm>
          <a:off x="0" y="0"/>
          <a:ext cx="0" cy="0"/>
          <a:chOff x="0" y="0"/>
          <a:chExt cx="0" cy="0"/>
        </a:xfrm>
      </p:grpSpPr>
      <p:grpSp>
        <p:nvGrpSpPr>
          <p:cNvPr id="2" name="Group 2"/>
          <p:cNvGrpSpPr/>
          <p:nvPr/>
        </p:nvGrpSpPr>
        <p:grpSpPr>
          <a:xfrm>
            <a:off x="0" y="-2462671"/>
            <a:ext cx="18288000" cy="10230013"/>
            <a:chOff x="0" y="0"/>
            <a:chExt cx="2833290" cy="1584897"/>
          </a:xfrm>
        </p:grpSpPr>
        <p:sp>
          <p:nvSpPr>
            <p:cNvPr id="3" name="Freeform 3"/>
            <p:cNvSpPr/>
            <p:nvPr/>
          </p:nvSpPr>
          <p:spPr>
            <a:xfrm>
              <a:off x="0" y="0"/>
              <a:ext cx="2833290" cy="1584897"/>
            </a:xfrm>
            <a:custGeom>
              <a:avLst/>
              <a:gdLst/>
              <a:ahLst/>
              <a:cxnLst/>
              <a:rect l="l" t="t" r="r" b="b"/>
              <a:pathLst>
                <a:path w="2833290" h="1584897">
                  <a:moveTo>
                    <a:pt x="0" y="0"/>
                  </a:moveTo>
                  <a:lnTo>
                    <a:pt x="2833290" y="0"/>
                  </a:lnTo>
                  <a:lnTo>
                    <a:pt x="2833290" y="1584897"/>
                  </a:lnTo>
                  <a:lnTo>
                    <a:pt x="0" y="1584897"/>
                  </a:lnTo>
                  <a:close/>
                </a:path>
              </a:pathLst>
            </a:custGeom>
            <a:blipFill>
              <a:blip r:embed="rId2"/>
              <a:stretch>
                <a:fillRect t="-9012" b="-34001"/>
              </a:stretch>
            </a:blipFill>
          </p:spPr>
          <p:txBody>
            <a:bodyPr/>
            <a:lstStyle/>
            <a:p>
              <a:endParaRPr lang="it-IT"/>
            </a:p>
          </p:txBody>
        </p:sp>
      </p:grpSp>
      <p:grpSp>
        <p:nvGrpSpPr>
          <p:cNvPr id="4" name="Group 4"/>
          <p:cNvGrpSpPr/>
          <p:nvPr/>
        </p:nvGrpSpPr>
        <p:grpSpPr>
          <a:xfrm>
            <a:off x="0" y="7218457"/>
            <a:ext cx="18288000" cy="4263701"/>
            <a:chOff x="0" y="0"/>
            <a:chExt cx="4816593" cy="1122950"/>
          </a:xfrm>
        </p:grpSpPr>
        <p:sp>
          <p:nvSpPr>
            <p:cNvPr id="5" name="Freeform 5"/>
            <p:cNvSpPr/>
            <p:nvPr/>
          </p:nvSpPr>
          <p:spPr>
            <a:xfrm>
              <a:off x="0" y="0"/>
              <a:ext cx="4816592" cy="1122950"/>
            </a:xfrm>
            <a:custGeom>
              <a:avLst/>
              <a:gdLst/>
              <a:ahLst/>
              <a:cxnLst/>
              <a:rect l="l" t="t" r="r" b="b"/>
              <a:pathLst>
                <a:path w="4816592" h="1122950">
                  <a:moveTo>
                    <a:pt x="25400" y="0"/>
                  </a:moveTo>
                  <a:lnTo>
                    <a:pt x="4791192" y="0"/>
                  </a:lnTo>
                  <a:cubicBezTo>
                    <a:pt x="4797929" y="0"/>
                    <a:pt x="4804390" y="2676"/>
                    <a:pt x="4809153" y="7439"/>
                  </a:cubicBezTo>
                  <a:cubicBezTo>
                    <a:pt x="4813916" y="12203"/>
                    <a:pt x="4816592" y="18664"/>
                    <a:pt x="4816592" y="25400"/>
                  </a:cubicBezTo>
                  <a:lnTo>
                    <a:pt x="4816592" y="1097550"/>
                  </a:lnTo>
                  <a:cubicBezTo>
                    <a:pt x="4816592" y="1111578"/>
                    <a:pt x="4805221" y="1122950"/>
                    <a:pt x="4791192" y="1122950"/>
                  </a:cubicBezTo>
                  <a:lnTo>
                    <a:pt x="25400" y="1122950"/>
                  </a:lnTo>
                  <a:cubicBezTo>
                    <a:pt x="11372" y="1122950"/>
                    <a:pt x="0" y="1111578"/>
                    <a:pt x="0" y="1097550"/>
                  </a:cubicBezTo>
                  <a:lnTo>
                    <a:pt x="0" y="25400"/>
                  </a:lnTo>
                  <a:cubicBezTo>
                    <a:pt x="0" y="11372"/>
                    <a:pt x="11372" y="0"/>
                    <a:pt x="25400" y="0"/>
                  </a:cubicBezTo>
                  <a:close/>
                </a:path>
              </a:pathLst>
            </a:custGeom>
            <a:solidFill>
              <a:srgbClr val="F6FAFD"/>
            </a:solidFill>
          </p:spPr>
          <p:txBody>
            <a:bodyPr/>
            <a:lstStyle/>
            <a:p>
              <a:endParaRPr lang="it-IT"/>
            </a:p>
          </p:txBody>
        </p:sp>
        <p:sp>
          <p:nvSpPr>
            <p:cNvPr id="6" name="TextBox 6"/>
            <p:cNvSpPr txBox="1"/>
            <p:nvPr/>
          </p:nvSpPr>
          <p:spPr>
            <a:xfrm>
              <a:off x="0" y="-38100"/>
              <a:ext cx="4816593" cy="1161050"/>
            </a:xfrm>
            <a:prstGeom prst="rect">
              <a:avLst/>
            </a:prstGeom>
          </p:spPr>
          <p:txBody>
            <a:bodyPr lIns="50800" tIns="50800" rIns="50800" bIns="50800" rtlCol="0" anchor="ctr"/>
            <a:lstStyle/>
            <a:p>
              <a:pPr algn="ctr">
                <a:lnSpc>
                  <a:spcPts val="2659"/>
                </a:lnSpc>
              </a:pPr>
              <a:endParaRPr/>
            </a:p>
          </p:txBody>
        </p:sp>
      </p:grpSp>
      <p:sp>
        <p:nvSpPr>
          <p:cNvPr id="7" name="AutoShape 7"/>
          <p:cNvSpPr/>
          <p:nvPr/>
        </p:nvSpPr>
        <p:spPr>
          <a:xfrm>
            <a:off x="1028736" y="9885013"/>
            <a:ext cx="14751729" cy="0"/>
          </a:xfrm>
          <a:prstGeom prst="line">
            <a:avLst/>
          </a:prstGeom>
          <a:ln w="19050" cap="flat">
            <a:solidFill>
              <a:srgbClr val="000000"/>
            </a:solidFill>
            <a:prstDash val="solid"/>
            <a:headEnd type="none" w="sm" len="sm"/>
            <a:tailEnd type="none" w="sm" len="sm"/>
          </a:ln>
        </p:spPr>
        <p:txBody>
          <a:bodyPr/>
          <a:lstStyle/>
          <a:p>
            <a:endParaRPr lang="it-IT"/>
          </a:p>
        </p:txBody>
      </p:sp>
      <p:grpSp>
        <p:nvGrpSpPr>
          <p:cNvPr id="8" name="Group 8"/>
          <p:cNvGrpSpPr/>
          <p:nvPr/>
        </p:nvGrpSpPr>
        <p:grpSpPr>
          <a:xfrm>
            <a:off x="1028700" y="457847"/>
            <a:ext cx="5132669" cy="1141705"/>
            <a:chOff x="0" y="0"/>
            <a:chExt cx="6843558" cy="1522274"/>
          </a:xfrm>
        </p:grpSpPr>
        <p:sp>
          <p:nvSpPr>
            <p:cNvPr id="9" name="Freeform 9"/>
            <p:cNvSpPr/>
            <p:nvPr/>
          </p:nvSpPr>
          <p:spPr>
            <a:xfrm>
              <a:off x="0" y="147390"/>
              <a:ext cx="692423" cy="692423"/>
            </a:xfrm>
            <a:custGeom>
              <a:avLst/>
              <a:gdLst/>
              <a:ahLst/>
              <a:cxnLst/>
              <a:rect l="l" t="t" r="r" b="b"/>
              <a:pathLst>
                <a:path w="692423" h="692423">
                  <a:moveTo>
                    <a:pt x="0" y="0"/>
                  </a:moveTo>
                  <a:lnTo>
                    <a:pt x="692423" y="0"/>
                  </a:lnTo>
                  <a:lnTo>
                    <a:pt x="692423" y="692423"/>
                  </a:lnTo>
                  <a:lnTo>
                    <a:pt x="0" y="6924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TextBox 10"/>
            <p:cNvSpPr txBox="1"/>
            <p:nvPr/>
          </p:nvSpPr>
          <p:spPr>
            <a:xfrm>
              <a:off x="975784" y="-47625"/>
              <a:ext cx="5867774" cy="1569899"/>
            </a:xfrm>
            <a:prstGeom prst="rect">
              <a:avLst/>
            </a:prstGeom>
          </p:spPr>
          <p:txBody>
            <a:bodyPr lIns="0" tIns="0" rIns="0" bIns="0" rtlCol="0" anchor="t">
              <a:spAutoFit/>
            </a:bodyPr>
            <a:lstStyle/>
            <a:p>
              <a:pPr algn="l">
                <a:lnSpc>
                  <a:spcPts val="3218"/>
                </a:lnSpc>
              </a:pPr>
              <a:r>
                <a:rPr lang="en-US" sz="2298" b="1" spc="-149">
                  <a:solidFill>
                    <a:srgbClr val="F6FAFD"/>
                  </a:solidFill>
                  <a:latin typeface="Open Sauce Bold"/>
                  <a:ea typeface="Open Sauce Bold"/>
                  <a:cs typeface="Open Sauce Bold"/>
                  <a:sym typeface="Open Sauce Bold"/>
                </a:rPr>
                <a:t>Mezzanzanica Chiara 895530 Nucci Nicolò 945678</a:t>
              </a:r>
            </a:p>
            <a:p>
              <a:pPr algn="l">
                <a:lnSpc>
                  <a:spcPts val="3218"/>
                </a:lnSpc>
                <a:spcBef>
                  <a:spcPct val="0"/>
                </a:spcBef>
              </a:pPr>
              <a:endParaRPr lang="en-US" sz="2298" b="1" spc="-149">
                <a:solidFill>
                  <a:srgbClr val="F6FAFD"/>
                </a:solidFill>
                <a:latin typeface="Open Sauce Bold"/>
                <a:ea typeface="Open Sauce Bold"/>
                <a:cs typeface="Open Sauce Bold"/>
                <a:sym typeface="Open Sauce Bold"/>
              </a:endParaRPr>
            </a:p>
          </p:txBody>
        </p:sp>
      </p:grpSp>
      <p:sp>
        <p:nvSpPr>
          <p:cNvPr id="11" name="TextBox 11"/>
          <p:cNvSpPr txBox="1"/>
          <p:nvPr/>
        </p:nvSpPr>
        <p:spPr>
          <a:xfrm>
            <a:off x="1028700" y="7395796"/>
            <a:ext cx="16954500" cy="3093026"/>
          </a:xfrm>
          <a:prstGeom prst="rect">
            <a:avLst/>
          </a:prstGeom>
        </p:spPr>
        <p:txBody>
          <a:bodyPr wrap="square" lIns="0" tIns="0" rIns="0" bIns="0" rtlCol="0" anchor="t">
            <a:spAutoFit/>
          </a:bodyPr>
          <a:lstStyle/>
          <a:p>
            <a:pPr>
              <a:lnSpc>
                <a:spcPts val="12599"/>
              </a:lnSpc>
              <a:spcBef>
                <a:spcPct val="0"/>
              </a:spcBef>
            </a:pPr>
            <a:r>
              <a:rPr lang="en-US" sz="6000" b="1" dirty="0" err="1">
                <a:solidFill>
                  <a:srgbClr val="094955"/>
                </a:solidFill>
                <a:latin typeface="Open Sauce Heavy"/>
                <a:ea typeface="Open Sauce Heavy"/>
                <a:cs typeface="Open Sauce Heavy"/>
                <a:sym typeface="Open Sauce Heavy"/>
              </a:rPr>
              <a:t>SailNet</a:t>
            </a:r>
            <a:r>
              <a:rPr lang="en-US" sz="6000" dirty="0">
                <a:solidFill>
                  <a:srgbClr val="094955"/>
                </a:solidFill>
                <a:latin typeface="Open Sauce Heavy"/>
                <a:ea typeface="Open Sauce Heavy"/>
                <a:cs typeface="Open Sauce Heavy"/>
                <a:sym typeface="Open Sauce Heavy"/>
              </a:rPr>
              <a:t>:</a:t>
            </a:r>
            <a:r>
              <a:rPr lang="en-US" sz="6000" b="1" dirty="0">
                <a:solidFill>
                  <a:srgbClr val="094955"/>
                </a:solidFill>
                <a:latin typeface="Open Sauce Heavy"/>
                <a:ea typeface="Open Sauce Heavy"/>
                <a:cs typeface="Open Sauce Heavy"/>
                <a:sym typeface="Open Sauce Heavy"/>
              </a:rPr>
              <a:t> Multi-Task Frame Classification</a:t>
            </a:r>
          </a:p>
          <a:p>
            <a:pPr algn="l">
              <a:lnSpc>
                <a:spcPts val="12599"/>
              </a:lnSpc>
              <a:spcBef>
                <a:spcPct val="0"/>
              </a:spcBef>
            </a:pPr>
            <a:endParaRPr lang="en-US" sz="9000" b="1" dirty="0">
              <a:solidFill>
                <a:srgbClr val="094955"/>
              </a:solidFill>
              <a:latin typeface="Open Sauce Heavy"/>
              <a:ea typeface="Open Sauce Heavy"/>
              <a:cs typeface="Open Sauce Heavy"/>
              <a:sym typeface="Open Sauce Heavy"/>
            </a:endParaRPr>
          </a:p>
        </p:txBody>
      </p:sp>
      <p:sp>
        <p:nvSpPr>
          <p:cNvPr id="13" name="Freeform 13"/>
          <p:cNvSpPr/>
          <p:nvPr/>
        </p:nvSpPr>
        <p:spPr>
          <a:xfrm>
            <a:off x="16075335" y="9210675"/>
            <a:ext cx="1183965" cy="831021"/>
          </a:xfrm>
          <a:custGeom>
            <a:avLst/>
            <a:gdLst/>
            <a:ahLst/>
            <a:cxnLst/>
            <a:rect l="l" t="t" r="r" b="b"/>
            <a:pathLst>
              <a:path w="1183965" h="831021">
                <a:moveTo>
                  <a:pt x="0" y="0"/>
                </a:moveTo>
                <a:lnTo>
                  <a:pt x="1183965" y="0"/>
                </a:lnTo>
                <a:lnTo>
                  <a:pt x="1183965" y="831021"/>
                </a:lnTo>
                <a:lnTo>
                  <a:pt x="0" y="8310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5" name="TextBox 12">
            <a:extLst>
              <a:ext uri="{FF2B5EF4-FFF2-40B4-BE49-F238E27FC236}">
                <a16:creationId xmlns:a16="http://schemas.microsoft.com/office/drawing/2014/main" id="{56078948-0FBA-A3AA-4166-4606E22C5501}"/>
              </a:ext>
            </a:extLst>
          </p:cNvPr>
          <p:cNvSpPr txBox="1"/>
          <p:nvPr/>
        </p:nvSpPr>
        <p:spPr>
          <a:xfrm>
            <a:off x="1051887" y="9228046"/>
            <a:ext cx="10265337" cy="375552"/>
          </a:xfrm>
          <a:prstGeom prst="rect">
            <a:avLst/>
          </a:prstGeom>
        </p:spPr>
        <p:txBody>
          <a:bodyPr lIns="0" tIns="0" rIns="0" bIns="0" rtlCol="0" anchor="t">
            <a:spAutoFit/>
          </a:bodyPr>
          <a:lstStyle/>
          <a:p>
            <a:pPr algn="l">
              <a:lnSpc>
                <a:spcPts val="3219"/>
              </a:lnSpc>
            </a:pPr>
            <a:r>
              <a:rPr lang="en-US" sz="2299" spc="-45" dirty="0">
                <a:solidFill>
                  <a:srgbClr val="000000"/>
                </a:solidFill>
                <a:latin typeface="Open Sauce"/>
                <a:ea typeface="Open Sauce"/>
                <a:cs typeface="Open Sauce"/>
                <a:sym typeface="Open Sauce"/>
              </a:rPr>
              <a:t>Deep Learning Project - 2026</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AutoShape 2"/>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3" name="Freeform 3"/>
          <p:cNvSpPr/>
          <p:nvPr/>
        </p:nvSpPr>
        <p:spPr>
          <a:xfrm>
            <a:off x="1446160" y="607508"/>
            <a:ext cx="519317" cy="519317"/>
          </a:xfrm>
          <a:custGeom>
            <a:avLst/>
            <a:gdLst/>
            <a:ahLst/>
            <a:cxnLst/>
            <a:rect l="l" t="t" r="r" b="b"/>
            <a:pathLst>
              <a:path w="519317" h="519317">
                <a:moveTo>
                  <a:pt x="0" y="0"/>
                </a:moveTo>
                <a:lnTo>
                  <a:pt x="519317" y="0"/>
                </a:lnTo>
                <a:lnTo>
                  <a:pt x="519317" y="519317"/>
                </a:lnTo>
                <a:lnTo>
                  <a:pt x="0" y="5193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Freeform 4"/>
          <p:cNvSpPr/>
          <p:nvPr/>
        </p:nvSpPr>
        <p:spPr>
          <a:xfrm>
            <a:off x="4695287"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7807497"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Freeform 6"/>
          <p:cNvSpPr/>
          <p:nvPr/>
        </p:nvSpPr>
        <p:spPr>
          <a:xfrm>
            <a:off x="14036242"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Freeform 7"/>
          <p:cNvSpPr/>
          <p:nvPr/>
        </p:nvSpPr>
        <p:spPr>
          <a:xfrm>
            <a:off x="10922172"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Freeform 8"/>
          <p:cNvSpPr/>
          <p:nvPr/>
        </p:nvSpPr>
        <p:spPr>
          <a:xfrm>
            <a:off x="15276956"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9" name="Freeform 9"/>
          <p:cNvSpPr/>
          <p:nvPr/>
        </p:nvSpPr>
        <p:spPr>
          <a:xfrm>
            <a:off x="16220654"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Freeform 10"/>
          <p:cNvSpPr/>
          <p:nvPr/>
        </p:nvSpPr>
        <p:spPr>
          <a:xfrm>
            <a:off x="16692503"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Freeform 11"/>
          <p:cNvSpPr/>
          <p:nvPr/>
        </p:nvSpPr>
        <p:spPr>
          <a:xfrm>
            <a:off x="17164352" y="772219"/>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2" name="TextBox 62"/>
          <p:cNvSpPr txBox="1"/>
          <p:nvPr/>
        </p:nvSpPr>
        <p:spPr>
          <a:xfrm>
            <a:off x="1040320" y="2414326"/>
            <a:ext cx="8221586" cy="3589493"/>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This dataset consists of 94 sailing videos that were segmented into shorter clips, each containing a single continuous instance of one label combination, to ensure precise annotation. </a:t>
            </a:r>
          </a:p>
          <a:p>
            <a:pPr algn="l">
              <a:lnSpc>
                <a:spcPts val="3219"/>
              </a:lnSpc>
            </a:pPr>
            <a:r>
              <a:rPr lang="en-US" sz="2299" spc="-45">
                <a:solidFill>
                  <a:srgbClr val="F6FAFD"/>
                </a:solidFill>
                <a:latin typeface="Open Sauce"/>
                <a:ea typeface="Open Sauce"/>
                <a:cs typeface="Open Sauce"/>
                <a:sym typeface="Open Sauce"/>
              </a:rPr>
              <a:t>The footage captures two boat classes, the ILCA and the Optimist, performing maneuvers across three points of sail: no-go zone, closed hauled, and run, on both port and starboard tack, yielding six possible label combinations per boat type.</a:t>
            </a:r>
          </a:p>
        </p:txBody>
      </p:sp>
      <p:sp>
        <p:nvSpPr>
          <p:cNvPr id="63" name="TextBox 63"/>
          <p:cNvSpPr txBox="1"/>
          <p:nvPr/>
        </p:nvSpPr>
        <p:spPr>
          <a:xfrm>
            <a:off x="1915859" y="8869063"/>
            <a:ext cx="2218485" cy="389237"/>
          </a:xfrm>
          <a:prstGeom prst="rect">
            <a:avLst/>
          </a:prstGeom>
        </p:spPr>
        <p:txBody>
          <a:bodyPr lIns="0" tIns="0" rIns="0" bIns="0" rtlCol="0" anchor="t">
            <a:spAutoFit/>
          </a:bodyPr>
          <a:lstStyle/>
          <a:p>
            <a:pPr algn="ctr">
              <a:lnSpc>
                <a:spcPts val="3219"/>
              </a:lnSpc>
            </a:pPr>
            <a:r>
              <a:rPr lang="en-US" sz="2299" spc="-45">
                <a:solidFill>
                  <a:srgbClr val="F6FAFD"/>
                </a:solidFill>
                <a:latin typeface="Open Sauce"/>
                <a:ea typeface="Open Sauce"/>
                <a:cs typeface="Open Sauce"/>
                <a:sym typeface="Open Sauce"/>
              </a:rPr>
              <a:t>Ilca</a:t>
            </a:r>
          </a:p>
        </p:txBody>
      </p:sp>
      <p:sp>
        <p:nvSpPr>
          <p:cNvPr id="64" name="TextBox 64"/>
          <p:cNvSpPr txBox="1"/>
          <p:nvPr/>
        </p:nvSpPr>
        <p:spPr>
          <a:xfrm>
            <a:off x="6156221" y="8869063"/>
            <a:ext cx="2218485" cy="389237"/>
          </a:xfrm>
          <a:prstGeom prst="rect">
            <a:avLst/>
          </a:prstGeom>
        </p:spPr>
        <p:txBody>
          <a:bodyPr lIns="0" tIns="0" rIns="0" bIns="0" rtlCol="0" anchor="t">
            <a:spAutoFit/>
          </a:bodyPr>
          <a:lstStyle/>
          <a:p>
            <a:pPr algn="ctr">
              <a:lnSpc>
                <a:spcPts val="3219"/>
              </a:lnSpc>
            </a:pPr>
            <a:r>
              <a:rPr lang="en-US" sz="2299" spc="-45">
                <a:solidFill>
                  <a:srgbClr val="F6FAFD"/>
                </a:solidFill>
                <a:latin typeface="Open Sauce"/>
                <a:ea typeface="Open Sauce"/>
                <a:cs typeface="Open Sauce"/>
                <a:sym typeface="Open Sauce"/>
              </a:rPr>
              <a:t>Optimist</a:t>
            </a:r>
          </a:p>
        </p:txBody>
      </p:sp>
      <p:sp>
        <p:nvSpPr>
          <p:cNvPr id="65" name="Freeform 65"/>
          <p:cNvSpPr/>
          <p:nvPr/>
        </p:nvSpPr>
        <p:spPr>
          <a:xfrm>
            <a:off x="1610871"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6" name="TextBox 66"/>
          <p:cNvSpPr txBox="1"/>
          <p:nvPr/>
        </p:nvSpPr>
        <p:spPr>
          <a:xfrm>
            <a:off x="1347929" y="1211445"/>
            <a:ext cx="799539" cy="389266"/>
          </a:xfrm>
          <a:prstGeom prst="rect">
            <a:avLst/>
          </a:prstGeom>
        </p:spPr>
        <p:txBody>
          <a:bodyPr lIns="0" tIns="0" rIns="0" bIns="0" rtlCol="0" anchor="t">
            <a:spAutoFit/>
          </a:bodyPr>
          <a:lstStyle/>
          <a:p>
            <a:pPr algn="l">
              <a:lnSpc>
                <a:spcPts val="3218"/>
              </a:lnSpc>
              <a:spcBef>
                <a:spcPct val="0"/>
              </a:spcBef>
            </a:pPr>
            <a:r>
              <a:rPr lang="en-US" sz="2298" b="1" spc="-149">
                <a:solidFill>
                  <a:srgbClr val="F6FAFD"/>
                </a:solidFill>
                <a:latin typeface="Open Sauce Bold"/>
                <a:ea typeface="Open Sauce Bold"/>
                <a:cs typeface="Open Sauce Bold"/>
                <a:sym typeface="Open Sauce Bold"/>
              </a:rPr>
              <a:t>DATA</a:t>
            </a:r>
          </a:p>
        </p:txBody>
      </p:sp>
      <p:sp>
        <p:nvSpPr>
          <p:cNvPr id="67" name="TextBox 67"/>
          <p:cNvSpPr txBox="1"/>
          <p:nvPr/>
        </p:nvSpPr>
        <p:spPr>
          <a:xfrm>
            <a:off x="4333206" y="1103181"/>
            <a:ext cx="914057"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LABELING</a:t>
            </a:r>
          </a:p>
        </p:txBody>
      </p:sp>
      <p:sp>
        <p:nvSpPr>
          <p:cNvPr id="68" name="TextBox 68"/>
          <p:cNvSpPr txBox="1"/>
          <p:nvPr/>
        </p:nvSpPr>
        <p:spPr>
          <a:xfrm>
            <a:off x="7089026" y="1103181"/>
            <a:ext cx="1626837"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AUGMENTATION</a:t>
            </a:r>
          </a:p>
        </p:txBody>
      </p:sp>
      <p:sp>
        <p:nvSpPr>
          <p:cNvPr id="69" name="TextBox 69"/>
          <p:cNvSpPr txBox="1"/>
          <p:nvPr/>
        </p:nvSpPr>
        <p:spPr>
          <a:xfrm>
            <a:off x="10002660" y="1103181"/>
            <a:ext cx="202891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FOCAL LOSS</a:t>
            </a:r>
          </a:p>
        </p:txBody>
      </p:sp>
      <p:sp>
        <p:nvSpPr>
          <p:cNvPr id="70" name="TextBox 70"/>
          <p:cNvSpPr txBox="1"/>
          <p:nvPr/>
        </p:nvSpPr>
        <p:spPr>
          <a:xfrm>
            <a:off x="13089523" y="1103181"/>
            <a:ext cx="2083332"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pic>
        <p:nvPicPr>
          <p:cNvPr id="71" name="Immagine 70">
            <a:extLst>
              <a:ext uri="{FF2B5EF4-FFF2-40B4-BE49-F238E27FC236}">
                <a16:creationId xmlns:a16="http://schemas.microsoft.com/office/drawing/2014/main" id="{61541F8C-66AB-CF8E-1B14-2956673D742C}"/>
              </a:ext>
            </a:extLst>
          </p:cNvPr>
          <p:cNvPicPr>
            <a:picLocks noChangeAspect="1"/>
          </p:cNvPicPr>
          <p:nvPr/>
        </p:nvPicPr>
        <p:blipFill>
          <a:blip r:embed="rId4"/>
          <a:srcRect l="53689" t="-1" b="602"/>
          <a:stretch>
            <a:fillRect/>
          </a:stretch>
        </p:blipFill>
        <p:spPr>
          <a:xfrm>
            <a:off x="9829800" y="1981200"/>
            <a:ext cx="8495563" cy="8305800"/>
          </a:xfrm>
          <a:prstGeom prst="rect">
            <a:avLst/>
          </a:prstGeom>
        </p:spPr>
      </p:pic>
      <p:pic>
        <p:nvPicPr>
          <p:cNvPr id="73" name="Immagine 72">
            <a:extLst>
              <a:ext uri="{FF2B5EF4-FFF2-40B4-BE49-F238E27FC236}">
                <a16:creationId xmlns:a16="http://schemas.microsoft.com/office/drawing/2014/main" id="{2D2EC637-FC75-D596-998F-D5FA710FAFC6}"/>
              </a:ext>
            </a:extLst>
          </p:cNvPr>
          <p:cNvPicPr>
            <a:picLocks noChangeAspect="1"/>
          </p:cNvPicPr>
          <p:nvPr/>
        </p:nvPicPr>
        <p:blipFill>
          <a:blip r:embed="rId5"/>
          <a:stretch>
            <a:fillRect/>
          </a:stretch>
        </p:blipFill>
        <p:spPr>
          <a:xfrm>
            <a:off x="662169" y="6157055"/>
            <a:ext cx="8786631" cy="2720245"/>
          </a:xfrm>
          <a:prstGeom prst="rect">
            <a:avLst/>
          </a:prstGeom>
        </p:spPr>
      </p:pic>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7807497"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3" name="Freeform 3"/>
          <p:cNvSpPr/>
          <p:nvPr/>
        </p:nvSpPr>
        <p:spPr>
          <a:xfrm>
            <a:off x="14036242"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Freeform 4"/>
          <p:cNvSpPr/>
          <p:nvPr/>
        </p:nvSpPr>
        <p:spPr>
          <a:xfrm>
            <a:off x="10922172"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5" name="AutoShape 5"/>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6" name="Freeform 6"/>
          <p:cNvSpPr/>
          <p:nvPr/>
        </p:nvSpPr>
        <p:spPr>
          <a:xfrm>
            <a:off x="4530576" y="612483"/>
            <a:ext cx="519317" cy="519317"/>
          </a:xfrm>
          <a:custGeom>
            <a:avLst/>
            <a:gdLst/>
            <a:ahLst/>
            <a:cxnLst/>
            <a:rect l="l" t="t" r="r" b="b"/>
            <a:pathLst>
              <a:path w="519317" h="519317">
                <a:moveTo>
                  <a:pt x="0" y="0"/>
                </a:moveTo>
                <a:lnTo>
                  <a:pt x="519317" y="0"/>
                </a:lnTo>
                <a:lnTo>
                  <a:pt x="519317" y="519317"/>
                </a:lnTo>
                <a:lnTo>
                  <a:pt x="0" y="5193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Freeform 7"/>
          <p:cNvSpPr/>
          <p:nvPr/>
        </p:nvSpPr>
        <p:spPr>
          <a:xfrm>
            <a:off x="1610871"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8" name="Freeform 8"/>
          <p:cNvSpPr/>
          <p:nvPr/>
        </p:nvSpPr>
        <p:spPr>
          <a:xfrm>
            <a:off x="15276956"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9" name="Freeform 9"/>
          <p:cNvSpPr/>
          <p:nvPr/>
        </p:nvSpPr>
        <p:spPr>
          <a:xfrm>
            <a:off x="16220654"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0" name="Freeform 10"/>
          <p:cNvSpPr/>
          <p:nvPr/>
        </p:nvSpPr>
        <p:spPr>
          <a:xfrm>
            <a:off x="16692503"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1" name="Freeform 11"/>
          <p:cNvSpPr/>
          <p:nvPr/>
        </p:nvSpPr>
        <p:spPr>
          <a:xfrm>
            <a:off x="17164352" y="772219"/>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5" name="Freeform 15"/>
          <p:cNvSpPr/>
          <p:nvPr/>
        </p:nvSpPr>
        <p:spPr>
          <a:xfrm>
            <a:off x="4695287"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6" name="TextBox 16"/>
          <p:cNvSpPr txBox="1"/>
          <p:nvPr/>
        </p:nvSpPr>
        <p:spPr>
          <a:xfrm>
            <a:off x="1431330" y="1093700"/>
            <a:ext cx="548976" cy="273649"/>
          </a:xfrm>
          <a:prstGeom prst="rect">
            <a:avLst/>
          </a:prstGeom>
        </p:spPr>
        <p:txBody>
          <a:bodyPr lIns="0" tIns="0" rIns="0" bIns="0" rtlCol="0" anchor="t">
            <a:spAutoFit/>
          </a:bodyPr>
          <a:lstStyle/>
          <a:p>
            <a:pPr algn="l">
              <a:lnSpc>
                <a:spcPts val="2239"/>
              </a:lnSpc>
              <a:spcBef>
                <a:spcPct val="0"/>
              </a:spcBef>
            </a:pPr>
            <a:r>
              <a:rPr lang="en-US" sz="1599" b="1" spc="-103">
                <a:solidFill>
                  <a:srgbClr val="F6FAFD">
                    <a:alpha val="49804"/>
                  </a:srgbClr>
                </a:solidFill>
                <a:latin typeface="Open Sauce Bold"/>
                <a:ea typeface="Open Sauce Bold"/>
                <a:cs typeface="Open Sauce Bold"/>
                <a:sym typeface="Open Sauce Bold"/>
              </a:rPr>
              <a:t>DATA</a:t>
            </a:r>
          </a:p>
        </p:txBody>
      </p:sp>
      <p:sp>
        <p:nvSpPr>
          <p:cNvPr id="17" name="TextBox 17"/>
          <p:cNvSpPr txBox="1"/>
          <p:nvPr/>
        </p:nvSpPr>
        <p:spPr>
          <a:xfrm>
            <a:off x="4134991" y="1211475"/>
            <a:ext cx="1310488" cy="379712"/>
          </a:xfrm>
          <a:prstGeom prst="rect">
            <a:avLst/>
          </a:prstGeom>
        </p:spPr>
        <p:txBody>
          <a:bodyPr lIns="0" tIns="0" rIns="0" bIns="0" rtlCol="0" anchor="t">
            <a:spAutoFit/>
          </a:bodyPr>
          <a:lstStyle/>
          <a:p>
            <a:pPr algn="l">
              <a:lnSpc>
                <a:spcPts val="3220"/>
              </a:lnSpc>
              <a:spcBef>
                <a:spcPct val="0"/>
              </a:spcBef>
            </a:pPr>
            <a:r>
              <a:rPr lang="en-US" sz="2300" b="1" spc="-149">
                <a:solidFill>
                  <a:srgbClr val="F6FAFD"/>
                </a:solidFill>
                <a:latin typeface="Open Sauce Bold"/>
                <a:ea typeface="Open Sauce Bold"/>
                <a:cs typeface="Open Sauce Bold"/>
                <a:sym typeface="Open Sauce Bold"/>
              </a:rPr>
              <a:t>LABELING</a:t>
            </a:r>
          </a:p>
        </p:txBody>
      </p:sp>
      <p:sp>
        <p:nvSpPr>
          <p:cNvPr id="18" name="TextBox 18"/>
          <p:cNvSpPr txBox="1"/>
          <p:nvPr/>
        </p:nvSpPr>
        <p:spPr>
          <a:xfrm>
            <a:off x="7089026" y="1093656"/>
            <a:ext cx="1626837"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AUGMENTATION</a:t>
            </a:r>
          </a:p>
        </p:txBody>
      </p:sp>
      <p:sp>
        <p:nvSpPr>
          <p:cNvPr id="19" name="TextBox 19"/>
          <p:cNvSpPr txBox="1"/>
          <p:nvPr/>
        </p:nvSpPr>
        <p:spPr>
          <a:xfrm>
            <a:off x="10002660" y="1093656"/>
            <a:ext cx="202891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FOCAL LOSS</a:t>
            </a:r>
          </a:p>
        </p:txBody>
      </p:sp>
      <p:sp>
        <p:nvSpPr>
          <p:cNvPr id="20" name="TextBox 20"/>
          <p:cNvSpPr txBox="1"/>
          <p:nvPr/>
        </p:nvSpPr>
        <p:spPr>
          <a:xfrm>
            <a:off x="13089523" y="1093656"/>
            <a:ext cx="2083332"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sp>
        <p:nvSpPr>
          <p:cNvPr id="21" name="TextBox 21"/>
          <p:cNvSpPr txBox="1"/>
          <p:nvPr/>
        </p:nvSpPr>
        <p:spPr>
          <a:xfrm>
            <a:off x="1028700" y="2527142"/>
            <a:ext cx="16230600" cy="1989365"/>
          </a:xfrm>
          <a:prstGeom prst="rect">
            <a:avLst/>
          </a:prstGeom>
        </p:spPr>
        <p:txBody>
          <a:bodyPr lIns="0" tIns="0" rIns="0" bIns="0" rtlCol="0" anchor="t">
            <a:spAutoFit/>
          </a:bodyPr>
          <a:lstStyle/>
          <a:p>
            <a:pPr marL="0" lvl="0" indent="0" algn="l">
              <a:lnSpc>
                <a:spcPts val="3219"/>
              </a:lnSpc>
              <a:spcBef>
                <a:spcPct val="0"/>
              </a:spcBef>
            </a:pPr>
            <a:r>
              <a:rPr lang="en-US" sz="2299" u="none" strike="noStrike" spc="-45" dirty="0">
                <a:solidFill>
                  <a:srgbClr val="F6FAFD"/>
                </a:solidFill>
                <a:latin typeface="Open Sauce"/>
                <a:ea typeface="Open Sauce"/>
                <a:cs typeface="Open Sauce"/>
                <a:sym typeface="Open Sauce"/>
              </a:rPr>
              <a:t>Frames extraction is at 5 fps, with the exception of no-go zone which was sampled at 15 fps.</a:t>
            </a:r>
          </a:p>
          <a:p>
            <a:pPr marL="0" lvl="0" indent="0" algn="l">
              <a:lnSpc>
                <a:spcPts val="3219"/>
              </a:lnSpc>
              <a:spcBef>
                <a:spcPct val="0"/>
              </a:spcBef>
            </a:pPr>
            <a:endParaRPr lang="en-US" sz="2299" u="none" strike="noStrike" spc="-45" dirty="0">
              <a:solidFill>
                <a:srgbClr val="F6FAFD"/>
              </a:solidFill>
              <a:latin typeface="Open Sauce"/>
              <a:ea typeface="Open Sauce"/>
              <a:cs typeface="Open Sauce"/>
              <a:sym typeface="Open Sauce"/>
            </a:endParaRPr>
          </a:p>
          <a:p>
            <a:pPr marL="0" lvl="0" indent="0" algn="l">
              <a:lnSpc>
                <a:spcPts val="3219"/>
              </a:lnSpc>
              <a:spcBef>
                <a:spcPct val="0"/>
              </a:spcBef>
            </a:pPr>
            <a:r>
              <a:rPr lang="en-US" sz="2299" u="none" strike="noStrike" spc="-45" dirty="0">
                <a:solidFill>
                  <a:srgbClr val="F6FAFD"/>
                </a:solidFill>
                <a:latin typeface="Open Sauce"/>
                <a:ea typeface="Open Sauce"/>
                <a:cs typeface="Open Sauce"/>
                <a:sym typeface="Open Sauce"/>
              </a:rPr>
              <a:t>Stratified split into train, validation, and test sets to preserve proportionally.</a:t>
            </a:r>
          </a:p>
          <a:p>
            <a:pPr marL="0" lvl="0" indent="0" algn="l">
              <a:lnSpc>
                <a:spcPts val="3219"/>
              </a:lnSpc>
              <a:spcBef>
                <a:spcPct val="0"/>
              </a:spcBef>
            </a:pPr>
            <a:r>
              <a:rPr lang="en-US" sz="2299" u="none" strike="noStrike" spc="-45" dirty="0">
                <a:solidFill>
                  <a:srgbClr val="F6FAFD"/>
                </a:solidFill>
                <a:latin typeface="Open Sauce"/>
                <a:ea typeface="Open Sauce"/>
                <a:cs typeface="Open Sauce"/>
                <a:sym typeface="Open Sauce"/>
              </a:rPr>
              <a:t>Split operates at the video level rather than the frame level: all frames belonging to a given video appear exclusively in one split. This prevents the model from seeing near-identical frames and artificially inflate validation and test accuracy.</a:t>
            </a:r>
          </a:p>
        </p:txBody>
      </p:sp>
      <p:pic>
        <p:nvPicPr>
          <p:cNvPr id="26" name="Immagine 25">
            <a:extLst>
              <a:ext uri="{FF2B5EF4-FFF2-40B4-BE49-F238E27FC236}">
                <a16:creationId xmlns:a16="http://schemas.microsoft.com/office/drawing/2014/main" id="{CEAA63B5-5BF6-2D32-E166-DD4C5A7EDD33}"/>
              </a:ext>
            </a:extLst>
          </p:cNvPr>
          <p:cNvPicPr>
            <a:picLocks noChangeAspect="1"/>
          </p:cNvPicPr>
          <p:nvPr/>
        </p:nvPicPr>
        <p:blipFill>
          <a:blip r:embed="rId4"/>
          <a:srcRect l="3413" t="35681" r="3067" b="7825"/>
          <a:stretch>
            <a:fillRect/>
          </a:stretch>
        </p:blipFill>
        <p:spPr>
          <a:xfrm>
            <a:off x="609600" y="4985422"/>
            <a:ext cx="17109740" cy="465387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41280"/>
          </a:xfrm>
          <a:custGeom>
            <a:avLst/>
            <a:gdLst/>
            <a:ahLst/>
            <a:cxnLst/>
            <a:rect l="l" t="t" r="r" b="b"/>
            <a:pathLst>
              <a:path w="18288000" h="10241280">
                <a:moveTo>
                  <a:pt x="0" y="0"/>
                </a:moveTo>
                <a:lnTo>
                  <a:pt x="18288000" y="0"/>
                </a:lnTo>
                <a:lnTo>
                  <a:pt x="18288000" y="10241280"/>
                </a:lnTo>
                <a:lnTo>
                  <a:pt x="0" y="10241280"/>
                </a:lnTo>
                <a:lnTo>
                  <a:pt x="0" y="0"/>
                </a:lnTo>
                <a:close/>
              </a:path>
            </a:pathLst>
          </a:custGeom>
          <a:blipFill>
            <a:blip r:embed="rId2"/>
            <a:stretch>
              <a:fillRect/>
            </a:stretch>
          </a:blipFill>
        </p:spPr>
        <p:txBody>
          <a:bodyPr/>
          <a:lstStyle/>
          <a:p>
            <a:endParaRPr lang="it-IT"/>
          </a:p>
        </p:txBody>
      </p:sp>
      <p:sp>
        <p:nvSpPr>
          <p:cNvPr id="3" name="TextBox 3"/>
          <p:cNvSpPr txBox="1"/>
          <p:nvPr/>
        </p:nvSpPr>
        <p:spPr>
          <a:xfrm>
            <a:off x="8747192" y="2536667"/>
            <a:ext cx="8512108" cy="6380191"/>
          </a:xfrm>
          <a:prstGeom prst="rect">
            <a:avLst/>
          </a:prstGeom>
        </p:spPr>
        <p:txBody>
          <a:bodyPr lIns="0" tIns="0" rIns="0" bIns="0" rtlCol="0" anchor="t">
            <a:spAutoFit/>
          </a:bodyPr>
          <a:lstStyle/>
          <a:p>
            <a:pPr algn="l">
              <a:lnSpc>
                <a:spcPts val="3220"/>
              </a:lnSpc>
            </a:pPr>
            <a:r>
              <a:rPr lang="en-US" sz="2300" spc="-46">
                <a:solidFill>
                  <a:srgbClr val="F6FAFD"/>
                </a:solidFill>
                <a:latin typeface="Open Sauce"/>
                <a:ea typeface="Open Sauce"/>
                <a:cs typeface="Open Sauce"/>
                <a:sym typeface="Open Sauce"/>
              </a:rPr>
              <a:t>Albumentations library [1] was chosen for its rich set of </a:t>
            </a:r>
          </a:p>
          <a:p>
            <a:pPr algn="l">
              <a:lnSpc>
                <a:spcPts val="3220"/>
              </a:lnSpc>
            </a:pPr>
            <a:r>
              <a:rPr lang="en-US" sz="2300" spc="-46">
                <a:solidFill>
                  <a:srgbClr val="F6FAFD"/>
                </a:solidFill>
                <a:latin typeface="Open Sauce"/>
                <a:ea typeface="Open Sauce"/>
                <a:cs typeface="Open Sauce"/>
                <a:sym typeface="Open Sauce"/>
              </a:rPr>
              <a:t>domain-relevant transforms, particularly those simulating sailing-specific conditions such as variable lighting, atmospheric haze, and camera motion. </a:t>
            </a:r>
          </a:p>
          <a:p>
            <a:pPr algn="l">
              <a:lnSpc>
                <a:spcPts val="3220"/>
              </a:lnSpc>
            </a:pPr>
            <a:endParaRPr lang="en-US" sz="2300" spc="-46">
              <a:solidFill>
                <a:srgbClr val="F6FAFD"/>
              </a:solidFill>
              <a:latin typeface="Open Sauce"/>
              <a:ea typeface="Open Sauce"/>
              <a:cs typeface="Open Sauce"/>
              <a:sym typeface="Open Sauce"/>
            </a:endParaRPr>
          </a:p>
          <a:p>
            <a:pPr algn="l">
              <a:lnSpc>
                <a:spcPts val="3220"/>
              </a:lnSpc>
            </a:pPr>
            <a:r>
              <a:rPr lang="en-US" sz="2300" spc="-46">
                <a:solidFill>
                  <a:srgbClr val="F6FAFD"/>
                </a:solidFill>
                <a:latin typeface="Open Sauce"/>
                <a:ea typeface="Open Sauce"/>
                <a:cs typeface="Open Sauce"/>
                <a:sym typeface="Open Sauce"/>
              </a:rPr>
              <a:t>Augmentation is applied on-the-fly and each original image generates 3 augmented copies. All models share the same augmentation logic and the same deterministic seeds guaranteeing a fair comparison.</a:t>
            </a:r>
          </a:p>
          <a:p>
            <a:pPr algn="l">
              <a:lnSpc>
                <a:spcPts val="3220"/>
              </a:lnSpc>
            </a:pPr>
            <a:endParaRPr lang="en-US" sz="2300" spc="-46">
              <a:solidFill>
                <a:srgbClr val="F6FAFD"/>
              </a:solidFill>
              <a:latin typeface="Open Sauce"/>
              <a:ea typeface="Open Sauce"/>
              <a:cs typeface="Open Sauce"/>
              <a:sym typeface="Open Sauce"/>
            </a:endParaRPr>
          </a:p>
          <a:p>
            <a:pPr algn="l">
              <a:lnSpc>
                <a:spcPts val="3220"/>
              </a:lnSpc>
            </a:pPr>
            <a:r>
              <a:rPr lang="en-US" sz="2300" spc="-46">
                <a:solidFill>
                  <a:srgbClr val="F6FAFD"/>
                </a:solidFill>
                <a:latin typeface="Open Sauce"/>
                <a:ea typeface="Open Sauce"/>
                <a:cs typeface="Open Sauce"/>
                <a:sym typeface="Open Sauce"/>
              </a:rPr>
              <a:t>The three versions each combine transformations from at least three of the following categories:</a:t>
            </a:r>
          </a:p>
          <a:p>
            <a:pPr marL="496571" lvl="1" indent="-248285" algn="l">
              <a:lnSpc>
                <a:spcPts val="3220"/>
              </a:lnSpc>
              <a:buFont typeface="Arial"/>
              <a:buChar char="•"/>
            </a:pPr>
            <a:r>
              <a:rPr lang="en-US" sz="2300" spc="-46">
                <a:solidFill>
                  <a:srgbClr val="F6FAFD"/>
                </a:solidFill>
                <a:latin typeface="Open Sauce"/>
                <a:ea typeface="Open Sauce"/>
                <a:cs typeface="Open Sauce"/>
                <a:sym typeface="Open Sauce"/>
              </a:rPr>
              <a:t>rotation, colour jitter, fog, and motion blur</a:t>
            </a:r>
          </a:p>
          <a:p>
            <a:pPr marL="496571" lvl="1" indent="-248285" algn="l">
              <a:lnSpc>
                <a:spcPts val="3220"/>
              </a:lnSpc>
              <a:buFont typeface="Arial"/>
              <a:buChar char="•"/>
            </a:pPr>
            <a:r>
              <a:rPr lang="en-US" sz="2300" spc="-46">
                <a:solidFill>
                  <a:srgbClr val="F6FAFD"/>
                </a:solidFill>
                <a:latin typeface="Open Sauce"/>
                <a:ea typeface="Open Sauce"/>
                <a:cs typeface="Open Sauce"/>
                <a:sym typeface="Open Sauce"/>
              </a:rPr>
              <a:t>perspective distortion, random crop, hue shift and shadow</a:t>
            </a:r>
          </a:p>
          <a:p>
            <a:pPr marL="496571" lvl="1" indent="-248285" algn="l">
              <a:lnSpc>
                <a:spcPts val="3220"/>
              </a:lnSpc>
              <a:buFont typeface="Arial"/>
              <a:buChar char="•"/>
            </a:pPr>
            <a:r>
              <a:rPr lang="en-US" sz="2300" spc="-46">
                <a:solidFill>
                  <a:srgbClr val="F6FAFD"/>
                </a:solidFill>
                <a:latin typeface="Open Sauce"/>
                <a:ea typeface="Open Sauce"/>
                <a:cs typeface="Open Sauce"/>
                <a:sym typeface="Open Sauce"/>
              </a:rPr>
              <a:t>affine warp, brightness/contrast, sharpening, sun flare, Gaussian noise, and coarse dropout</a:t>
            </a:r>
          </a:p>
        </p:txBody>
      </p:sp>
      <p:grpSp>
        <p:nvGrpSpPr>
          <p:cNvPr id="7" name="Group 7"/>
          <p:cNvGrpSpPr/>
          <p:nvPr/>
        </p:nvGrpSpPr>
        <p:grpSpPr>
          <a:xfrm>
            <a:off x="16410549" y="8605602"/>
            <a:ext cx="1877451" cy="1681398"/>
            <a:chOff x="0" y="0"/>
            <a:chExt cx="494473" cy="442837"/>
          </a:xfrm>
        </p:grpSpPr>
        <p:sp>
          <p:nvSpPr>
            <p:cNvPr id="8" name="Freeform 8"/>
            <p:cNvSpPr/>
            <p:nvPr/>
          </p:nvSpPr>
          <p:spPr>
            <a:xfrm>
              <a:off x="0" y="0"/>
              <a:ext cx="494473" cy="442837"/>
            </a:xfrm>
            <a:custGeom>
              <a:avLst/>
              <a:gdLst/>
              <a:ahLst/>
              <a:cxnLst/>
              <a:rect l="l" t="t" r="r" b="b"/>
              <a:pathLst>
                <a:path w="494473" h="442837">
                  <a:moveTo>
                    <a:pt x="0" y="0"/>
                  </a:moveTo>
                  <a:lnTo>
                    <a:pt x="494473" y="0"/>
                  </a:lnTo>
                  <a:lnTo>
                    <a:pt x="494473" y="442837"/>
                  </a:lnTo>
                  <a:lnTo>
                    <a:pt x="0" y="442837"/>
                  </a:lnTo>
                  <a:close/>
                </a:path>
              </a:pathLst>
            </a:custGeom>
            <a:solidFill>
              <a:srgbClr val="094955"/>
            </a:solidFill>
          </p:spPr>
          <p:txBody>
            <a:bodyPr/>
            <a:lstStyle/>
            <a:p>
              <a:endParaRPr lang="it-IT"/>
            </a:p>
          </p:txBody>
        </p:sp>
        <p:sp>
          <p:nvSpPr>
            <p:cNvPr id="9" name="TextBox 9"/>
            <p:cNvSpPr txBox="1"/>
            <p:nvPr/>
          </p:nvSpPr>
          <p:spPr>
            <a:xfrm>
              <a:off x="0" y="-38100"/>
              <a:ext cx="494473" cy="480937"/>
            </a:xfrm>
            <a:prstGeom prst="rect">
              <a:avLst/>
            </a:prstGeom>
          </p:spPr>
          <p:txBody>
            <a:bodyPr lIns="50800" tIns="50800" rIns="50800" bIns="50800" rtlCol="0" anchor="ctr"/>
            <a:lstStyle/>
            <a:p>
              <a:pPr algn="ctr">
                <a:lnSpc>
                  <a:spcPts val="2238"/>
                </a:lnSpc>
              </a:pPr>
              <a:endParaRPr/>
            </a:p>
          </p:txBody>
        </p:sp>
      </p:grpSp>
      <p:sp>
        <p:nvSpPr>
          <p:cNvPr id="10" name="Freeform 10"/>
          <p:cNvSpPr/>
          <p:nvPr/>
        </p:nvSpPr>
        <p:spPr>
          <a:xfrm>
            <a:off x="16220654" y="8842789"/>
            <a:ext cx="1183965" cy="831021"/>
          </a:xfrm>
          <a:custGeom>
            <a:avLst/>
            <a:gdLst/>
            <a:ahLst/>
            <a:cxnLst/>
            <a:rect l="l" t="t" r="r" b="b"/>
            <a:pathLst>
              <a:path w="1183965" h="831021">
                <a:moveTo>
                  <a:pt x="0" y="0"/>
                </a:moveTo>
                <a:lnTo>
                  <a:pt x="1183965" y="0"/>
                </a:lnTo>
                <a:lnTo>
                  <a:pt x="1183965" y="831022"/>
                </a:lnTo>
                <a:lnTo>
                  <a:pt x="0" y="83102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6" name="Freeform 16"/>
          <p:cNvSpPr/>
          <p:nvPr/>
        </p:nvSpPr>
        <p:spPr>
          <a:xfrm>
            <a:off x="1403624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7" name="Freeform 17"/>
          <p:cNvSpPr/>
          <p:nvPr/>
        </p:nvSpPr>
        <p:spPr>
          <a:xfrm>
            <a:off x="1092217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8" name="Freeform 18"/>
          <p:cNvSpPr/>
          <p:nvPr/>
        </p:nvSpPr>
        <p:spPr>
          <a:xfrm>
            <a:off x="1610871"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9" name="AutoShape 19"/>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20" name="Freeform 20"/>
          <p:cNvSpPr/>
          <p:nvPr/>
        </p:nvSpPr>
        <p:spPr>
          <a:xfrm>
            <a:off x="4695287"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1" name="Freeform 21"/>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2" name="Freeform 22"/>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3" name="Freeform 23"/>
          <p:cNvSpPr/>
          <p:nvPr/>
        </p:nvSpPr>
        <p:spPr>
          <a:xfrm>
            <a:off x="16692503"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4" name="Freeform 24"/>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5" name="Freeform 25"/>
          <p:cNvSpPr/>
          <p:nvPr/>
        </p:nvSpPr>
        <p:spPr>
          <a:xfrm>
            <a:off x="7642785"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it-IT"/>
          </a:p>
        </p:txBody>
      </p:sp>
      <p:sp>
        <p:nvSpPr>
          <p:cNvPr id="26" name="Freeform 26"/>
          <p:cNvSpPr/>
          <p:nvPr/>
        </p:nvSpPr>
        <p:spPr>
          <a:xfrm>
            <a:off x="7807497"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27" name="TextBox 27"/>
          <p:cNvSpPr txBox="1"/>
          <p:nvPr/>
        </p:nvSpPr>
        <p:spPr>
          <a:xfrm>
            <a:off x="1431330" y="1093700"/>
            <a:ext cx="548976" cy="273649"/>
          </a:xfrm>
          <a:prstGeom prst="rect">
            <a:avLst/>
          </a:prstGeom>
        </p:spPr>
        <p:txBody>
          <a:bodyPr lIns="0" tIns="0" rIns="0" bIns="0" rtlCol="0" anchor="t">
            <a:spAutoFit/>
          </a:bodyPr>
          <a:lstStyle/>
          <a:p>
            <a:pPr algn="l">
              <a:lnSpc>
                <a:spcPts val="2239"/>
              </a:lnSpc>
              <a:spcBef>
                <a:spcPct val="0"/>
              </a:spcBef>
            </a:pPr>
            <a:r>
              <a:rPr lang="en-US" sz="1599" b="1" spc="-103">
                <a:solidFill>
                  <a:srgbClr val="F6FAFD">
                    <a:alpha val="49804"/>
                  </a:srgbClr>
                </a:solidFill>
                <a:latin typeface="Open Sauce Bold"/>
                <a:ea typeface="Open Sauce Bold"/>
                <a:cs typeface="Open Sauce Bold"/>
                <a:sym typeface="Open Sauce Bold"/>
              </a:rPr>
              <a:t>DATA</a:t>
            </a:r>
          </a:p>
        </p:txBody>
      </p:sp>
      <p:sp>
        <p:nvSpPr>
          <p:cNvPr id="28" name="TextBox 28"/>
          <p:cNvSpPr txBox="1"/>
          <p:nvPr/>
        </p:nvSpPr>
        <p:spPr>
          <a:xfrm>
            <a:off x="10002660" y="1093656"/>
            <a:ext cx="202891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FOCAL LOSS</a:t>
            </a:r>
          </a:p>
        </p:txBody>
      </p:sp>
      <p:sp>
        <p:nvSpPr>
          <p:cNvPr id="29" name="TextBox 29"/>
          <p:cNvSpPr txBox="1"/>
          <p:nvPr/>
        </p:nvSpPr>
        <p:spPr>
          <a:xfrm>
            <a:off x="13089523" y="1093656"/>
            <a:ext cx="2083332"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sp>
        <p:nvSpPr>
          <p:cNvPr id="30" name="TextBox 30"/>
          <p:cNvSpPr txBox="1"/>
          <p:nvPr/>
        </p:nvSpPr>
        <p:spPr>
          <a:xfrm>
            <a:off x="6776610" y="1211445"/>
            <a:ext cx="2251668" cy="379712"/>
          </a:xfrm>
          <a:prstGeom prst="rect">
            <a:avLst/>
          </a:prstGeom>
        </p:spPr>
        <p:txBody>
          <a:bodyPr lIns="0" tIns="0" rIns="0" bIns="0" rtlCol="0" anchor="t">
            <a:spAutoFit/>
          </a:bodyPr>
          <a:lstStyle/>
          <a:p>
            <a:pPr algn="l">
              <a:lnSpc>
                <a:spcPts val="3220"/>
              </a:lnSpc>
              <a:spcBef>
                <a:spcPct val="0"/>
              </a:spcBef>
            </a:pPr>
            <a:r>
              <a:rPr lang="en-US" sz="2300" b="1" spc="-149">
                <a:solidFill>
                  <a:srgbClr val="F6FAFD"/>
                </a:solidFill>
                <a:latin typeface="Open Sauce Bold"/>
                <a:ea typeface="Open Sauce Bold"/>
                <a:cs typeface="Open Sauce Bold"/>
                <a:sym typeface="Open Sauce Bold"/>
              </a:rPr>
              <a:t>AUGMENTATION</a:t>
            </a:r>
          </a:p>
        </p:txBody>
      </p:sp>
      <p:sp>
        <p:nvSpPr>
          <p:cNvPr id="31" name="TextBox 31"/>
          <p:cNvSpPr txBox="1"/>
          <p:nvPr/>
        </p:nvSpPr>
        <p:spPr>
          <a:xfrm>
            <a:off x="4353641" y="1105501"/>
            <a:ext cx="929732" cy="273649"/>
          </a:xfrm>
          <a:prstGeom prst="rect">
            <a:avLst/>
          </a:prstGeom>
        </p:spPr>
        <p:txBody>
          <a:bodyPr lIns="0" tIns="0" rIns="0" bIns="0" rtlCol="0" anchor="t">
            <a:spAutoFit/>
          </a:bodyPr>
          <a:lstStyle/>
          <a:p>
            <a:pPr algn="l">
              <a:lnSpc>
                <a:spcPts val="2239"/>
              </a:lnSpc>
              <a:spcBef>
                <a:spcPct val="0"/>
              </a:spcBef>
            </a:pPr>
            <a:r>
              <a:rPr lang="en-US" sz="1599" b="1" spc="-103">
                <a:solidFill>
                  <a:srgbClr val="F6FAFD">
                    <a:alpha val="49804"/>
                  </a:srgbClr>
                </a:solidFill>
                <a:latin typeface="Open Sauce Bold"/>
                <a:ea typeface="Open Sauce Bold"/>
                <a:cs typeface="Open Sauce Bold"/>
                <a:sym typeface="Open Sauce Bold"/>
              </a:rPr>
              <a:t>LABELING</a:t>
            </a:r>
          </a:p>
        </p:txBody>
      </p:sp>
      <p:pic>
        <p:nvPicPr>
          <p:cNvPr id="33" name="Immagine 32">
            <a:extLst>
              <a:ext uri="{FF2B5EF4-FFF2-40B4-BE49-F238E27FC236}">
                <a16:creationId xmlns:a16="http://schemas.microsoft.com/office/drawing/2014/main" id="{DA13692A-D289-B7E0-3862-6B914C88A048}"/>
              </a:ext>
            </a:extLst>
          </p:cNvPr>
          <p:cNvPicPr>
            <a:picLocks noChangeAspect="1"/>
          </p:cNvPicPr>
          <p:nvPr/>
        </p:nvPicPr>
        <p:blipFill>
          <a:blip r:embed="rId6"/>
          <a:stretch>
            <a:fillRect/>
          </a:stretch>
        </p:blipFill>
        <p:spPr>
          <a:xfrm>
            <a:off x="533400" y="2096115"/>
            <a:ext cx="7787242" cy="771480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AutoShape 2"/>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3" name="Freeform 3"/>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Freeform 4"/>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5" name="Freeform 5"/>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6" name="Freeform 6"/>
          <p:cNvSpPr/>
          <p:nvPr/>
        </p:nvSpPr>
        <p:spPr>
          <a:xfrm>
            <a:off x="16692503"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7" name="Freeform 7"/>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8" name="Freeform 8"/>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9" name="Freeform 9"/>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0" name="Freeform 10"/>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1" name="Freeform 11"/>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2" name="Freeform 12"/>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3" name="TextBox 13"/>
          <p:cNvSpPr txBox="1"/>
          <p:nvPr/>
        </p:nvSpPr>
        <p:spPr>
          <a:xfrm>
            <a:off x="11216168" y="1087303"/>
            <a:ext cx="2083332"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sp>
        <p:nvSpPr>
          <p:cNvPr id="14" name="TextBox 14"/>
          <p:cNvSpPr txBox="1"/>
          <p:nvPr/>
        </p:nvSpPr>
        <p:spPr>
          <a:xfrm>
            <a:off x="7725103" y="1211445"/>
            <a:ext cx="2837794"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FOCAL LOSS</a:t>
            </a:r>
          </a:p>
        </p:txBody>
      </p:sp>
      <p:sp>
        <p:nvSpPr>
          <p:cNvPr id="15" name="TextBox 15"/>
          <p:cNvSpPr txBox="1"/>
          <p:nvPr/>
        </p:nvSpPr>
        <p:spPr>
          <a:xfrm>
            <a:off x="2458595" y="1093656"/>
            <a:ext cx="914057"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LABELING</a:t>
            </a:r>
          </a:p>
        </p:txBody>
      </p:sp>
      <p:sp>
        <p:nvSpPr>
          <p:cNvPr id="16" name="TextBox 16"/>
          <p:cNvSpPr txBox="1"/>
          <p:nvPr/>
        </p:nvSpPr>
        <p:spPr>
          <a:xfrm>
            <a:off x="5216275" y="1093656"/>
            <a:ext cx="1626837" cy="273678"/>
          </a:xfrm>
          <a:prstGeom prst="rect">
            <a:avLst/>
          </a:prstGeom>
        </p:spPr>
        <p:txBody>
          <a:bodyPr lIns="0" tIns="0" rIns="0" bIns="0" rtlCol="0" anchor="t">
            <a:spAutoFit/>
          </a:bodyPr>
          <a:lstStyle/>
          <a:p>
            <a:pPr algn="l">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AUGMENTATION</a:t>
            </a:r>
          </a:p>
        </p:txBody>
      </p:sp>
      <p:sp>
        <p:nvSpPr>
          <p:cNvPr id="17" name="TextBox 17"/>
          <p:cNvSpPr txBox="1"/>
          <p:nvPr/>
        </p:nvSpPr>
        <p:spPr>
          <a:xfrm>
            <a:off x="14814047" y="1087303"/>
            <a:ext cx="1115713"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PARALLEL</a:t>
            </a:r>
          </a:p>
        </p:txBody>
      </p:sp>
      <p:sp>
        <p:nvSpPr>
          <p:cNvPr id="18" name="TextBox 18"/>
          <p:cNvSpPr txBox="1"/>
          <p:nvPr/>
        </p:nvSpPr>
        <p:spPr>
          <a:xfrm>
            <a:off x="1019477" y="4527302"/>
            <a:ext cx="16230600" cy="3989525"/>
          </a:xfrm>
          <a:prstGeom prst="rect">
            <a:avLst/>
          </a:prstGeom>
        </p:spPr>
        <p:txBody>
          <a:bodyPr lIns="0" tIns="0" rIns="0" bIns="0" rtlCol="0" anchor="t">
            <a:spAutoFit/>
          </a:bodyPr>
          <a:lstStyle/>
          <a:p>
            <a:pPr marL="0" lvl="0" indent="0" algn="l">
              <a:lnSpc>
                <a:spcPts val="3219"/>
              </a:lnSpc>
              <a:spcBef>
                <a:spcPct val="0"/>
              </a:spcBef>
            </a:pPr>
            <a:r>
              <a:rPr lang="en-US" sz="2299" u="none" strike="noStrike" spc="-45">
                <a:solidFill>
                  <a:srgbClr val="F6FAFD"/>
                </a:solidFill>
                <a:latin typeface="Open Sauce"/>
                <a:ea typeface="Open Sauce"/>
                <a:cs typeface="Open Sauce"/>
                <a:sym typeface="Open Sauce"/>
              </a:rPr>
              <a:t>A solution to this problem is introducing the </a:t>
            </a:r>
            <a:r>
              <a:rPr lang="en-US" sz="2299" b="1" u="none" strike="noStrike" spc="-45">
                <a:solidFill>
                  <a:srgbClr val="F6FAFD"/>
                </a:solidFill>
                <a:latin typeface="Open Sauce Bold"/>
                <a:ea typeface="Open Sauce Bold"/>
                <a:cs typeface="Open Sauce Bold"/>
                <a:sym typeface="Open Sauce Bold"/>
              </a:rPr>
              <a:t>Focal Loss </a:t>
            </a:r>
            <a:r>
              <a:rPr lang="en-US" sz="2299" u="none" strike="noStrike" spc="-45">
                <a:solidFill>
                  <a:srgbClr val="F6FAFD"/>
                </a:solidFill>
                <a:latin typeface="Open Sauce"/>
                <a:ea typeface="Open Sauce"/>
                <a:cs typeface="Open Sauce"/>
                <a:sym typeface="Open Sauce"/>
              </a:rPr>
              <a:t>[2] that modifies </a:t>
            </a:r>
          </a:p>
          <a:p>
            <a:pPr marL="0" lvl="0" indent="0" algn="l">
              <a:lnSpc>
                <a:spcPts val="3219"/>
              </a:lnSpc>
              <a:spcBef>
                <a:spcPct val="0"/>
              </a:spcBef>
            </a:pPr>
            <a:r>
              <a:rPr lang="en-US" sz="2299" u="none" strike="noStrike" spc="-45">
                <a:solidFill>
                  <a:srgbClr val="F6FAFD"/>
                </a:solidFill>
                <a:latin typeface="Open Sauce"/>
                <a:ea typeface="Open Sauce"/>
                <a:cs typeface="Open Sauce"/>
                <a:sym typeface="Open Sauce"/>
              </a:rPr>
              <a:t>cross-entropy by multiplying it by a dynamic scaling factor: (1 − pt)  .</a:t>
            </a:r>
          </a:p>
          <a:p>
            <a:pPr marL="0" lvl="0" indent="0" algn="l">
              <a:lnSpc>
                <a:spcPts val="3219"/>
              </a:lnSpc>
              <a:spcBef>
                <a:spcPct val="0"/>
              </a:spcBef>
            </a:pPr>
            <a:r>
              <a:rPr lang="en-US" sz="2299" u="none" strike="noStrike" spc="-45">
                <a:solidFill>
                  <a:srgbClr val="F6FAFD"/>
                </a:solidFill>
                <a:latin typeface="Open Sauce"/>
                <a:ea typeface="Open Sauce"/>
                <a:cs typeface="Open Sauce"/>
                <a:sym typeface="Open Sauce"/>
              </a:rPr>
              <a:t>pt is the probability assigned to the correct class. When the model is confident (pt → 1), the factor approaches 0 and the example contributes almost nothing to the gradient. When the model struggles (pt → 0), the factor approaches 1 and the loss behaves like standard cross-entropy. With γ = 2, easy examples are effectively silenced and training focuses on what the model has not yet learned.</a:t>
            </a:r>
          </a:p>
          <a:p>
            <a:pPr marL="0" lvl="0" indent="0" algn="l">
              <a:lnSpc>
                <a:spcPts val="3219"/>
              </a:lnSpc>
              <a:spcBef>
                <a:spcPct val="0"/>
              </a:spcBef>
            </a:pPr>
            <a:endParaRPr lang="en-US" sz="2299" u="none" strike="noStrike" spc="-45">
              <a:solidFill>
                <a:srgbClr val="F6FAFD"/>
              </a:solidFill>
              <a:latin typeface="Open Sauce"/>
              <a:ea typeface="Open Sauce"/>
              <a:cs typeface="Open Sauce"/>
              <a:sym typeface="Open Sauce"/>
            </a:endParaRPr>
          </a:p>
          <a:p>
            <a:pPr marL="0" lvl="0" indent="0" algn="l">
              <a:lnSpc>
                <a:spcPts val="3219"/>
              </a:lnSpc>
              <a:spcBef>
                <a:spcPct val="0"/>
              </a:spcBef>
            </a:pPr>
            <a:r>
              <a:rPr lang="en-US" sz="2299" u="none" strike="noStrike" spc="-45">
                <a:solidFill>
                  <a:srgbClr val="F6FAFD"/>
                </a:solidFill>
                <a:latin typeface="Open Sauce"/>
                <a:ea typeface="Open Sauce"/>
                <a:cs typeface="Open Sauce"/>
                <a:sym typeface="Open Sauce"/>
              </a:rPr>
              <a:t>Addittionally we apply</a:t>
            </a:r>
            <a:r>
              <a:rPr lang="en-US" sz="2299" b="1" u="none" strike="noStrike" spc="-45">
                <a:solidFill>
                  <a:srgbClr val="F6FAFD"/>
                </a:solidFill>
                <a:latin typeface="Open Sauce Bold"/>
                <a:ea typeface="Open Sauce Bold"/>
                <a:cs typeface="Open Sauce Bold"/>
                <a:sym typeface="Open Sauce Bold"/>
              </a:rPr>
              <a:t> Label Smoothing </a:t>
            </a:r>
            <a:r>
              <a:rPr lang="en-US" sz="2299" u="none" strike="noStrike" spc="-45">
                <a:solidFill>
                  <a:srgbClr val="F6FAFD"/>
                </a:solidFill>
                <a:latin typeface="Open Sauce"/>
                <a:ea typeface="Open Sauce"/>
                <a:cs typeface="Open Sauce"/>
                <a:sym typeface="Open Sauce"/>
              </a:rPr>
              <a:t>[3]</a:t>
            </a:r>
            <a:r>
              <a:rPr lang="en-US" sz="2299" b="1" u="none" strike="noStrike" spc="-45">
                <a:solidFill>
                  <a:srgbClr val="F6FAFD"/>
                </a:solidFill>
                <a:latin typeface="Open Sauce Bold"/>
                <a:ea typeface="Open Sauce Bold"/>
                <a:cs typeface="Open Sauce Bold"/>
                <a:sym typeface="Open Sauce Bold"/>
              </a:rPr>
              <a:t> </a:t>
            </a:r>
            <a:r>
              <a:rPr lang="en-US" sz="2299" u="none" strike="noStrike" spc="-45">
                <a:solidFill>
                  <a:srgbClr val="F6FAFD"/>
                </a:solidFill>
                <a:latin typeface="Open Sauce"/>
                <a:ea typeface="Open Sauce"/>
                <a:cs typeface="Open Sauce"/>
                <a:sym typeface="Open Sauce"/>
              </a:rPr>
              <a:t>(ε = 0.1), true-class targets are softened from 1.0 to 0.9, with the remaining probability distributed equally across all other classes. This prevents the model from becoming overconfident and acts as a regularizer that improves both calibration and generalization.</a:t>
            </a:r>
          </a:p>
        </p:txBody>
      </p:sp>
      <p:sp>
        <p:nvSpPr>
          <p:cNvPr id="22" name="TextBox 22"/>
          <p:cNvSpPr txBox="1"/>
          <p:nvPr/>
        </p:nvSpPr>
        <p:spPr>
          <a:xfrm>
            <a:off x="1028700" y="2527142"/>
            <a:ext cx="9534197" cy="1989365"/>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Standard cross-entropy treats all misclassified examples equally but in datasets with natural class imbalance this leads the model to quickly master the common classes while making little progress on the rare or ambiguous ones.</a:t>
            </a:r>
          </a:p>
          <a:p>
            <a:pPr algn="l">
              <a:lnSpc>
                <a:spcPts val="3219"/>
              </a:lnSpc>
            </a:pPr>
            <a:endParaRPr lang="en-US" sz="2299" spc="-45">
              <a:solidFill>
                <a:srgbClr val="F6FAFD"/>
              </a:solidFill>
              <a:latin typeface="Open Sauce"/>
              <a:ea typeface="Open Sauce"/>
              <a:cs typeface="Open Sauce"/>
              <a:sym typeface="Open Sauce"/>
            </a:endParaRPr>
          </a:p>
        </p:txBody>
      </p:sp>
      <p:sp>
        <p:nvSpPr>
          <p:cNvPr id="23" name="TextBox 23"/>
          <p:cNvSpPr txBox="1"/>
          <p:nvPr/>
        </p:nvSpPr>
        <p:spPr>
          <a:xfrm>
            <a:off x="12747017" y="2935055"/>
            <a:ext cx="2830981" cy="669890"/>
          </a:xfrm>
          <a:prstGeom prst="rect">
            <a:avLst/>
          </a:prstGeom>
        </p:spPr>
        <p:txBody>
          <a:bodyPr lIns="0" tIns="0" rIns="0" bIns="0" rtlCol="0" anchor="t">
            <a:spAutoFit/>
          </a:bodyPr>
          <a:lstStyle/>
          <a:p>
            <a:pPr algn="ctr">
              <a:lnSpc>
                <a:spcPts val="5599"/>
              </a:lnSpc>
              <a:spcBef>
                <a:spcPct val="0"/>
              </a:spcBef>
            </a:pPr>
            <a:r>
              <a:rPr lang="en-US" sz="3999" spc="-259">
                <a:solidFill>
                  <a:srgbClr val="094955"/>
                </a:solidFill>
                <a:latin typeface="DM Serif Display"/>
                <a:ea typeface="DM Serif Display"/>
                <a:cs typeface="DM Serif Display"/>
                <a:sym typeface="DM Serif Display"/>
              </a:rPr>
              <a:t>C E  =  - log( pt )</a:t>
            </a:r>
          </a:p>
        </p:txBody>
      </p:sp>
      <p:sp>
        <p:nvSpPr>
          <p:cNvPr id="24" name="TextBox 24"/>
          <p:cNvSpPr txBox="1"/>
          <p:nvPr/>
        </p:nvSpPr>
        <p:spPr>
          <a:xfrm>
            <a:off x="11680416" y="3774903"/>
            <a:ext cx="4964184" cy="669919"/>
          </a:xfrm>
          <a:prstGeom prst="rect">
            <a:avLst/>
          </a:prstGeom>
        </p:spPr>
        <p:txBody>
          <a:bodyPr lIns="0" tIns="0" rIns="0" bIns="0" rtlCol="0" anchor="t">
            <a:spAutoFit/>
          </a:bodyPr>
          <a:lstStyle/>
          <a:p>
            <a:pPr algn="ctr">
              <a:lnSpc>
                <a:spcPts val="5598"/>
              </a:lnSpc>
              <a:spcBef>
                <a:spcPct val="0"/>
              </a:spcBef>
            </a:pPr>
            <a:r>
              <a:rPr lang="en-US" sz="3998" spc="-259">
                <a:solidFill>
                  <a:srgbClr val="094955"/>
                </a:solidFill>
                <a:latin typeface="DM Serif Display"/>
                <a:ea typeface="DM Serif Display"/>
                <a:cs typeface="DM Serif Display"/>
                <a:sym typeface="DM Serif Display"/>
              </a:rPr>
              <a:t>F L  =  ( 1 - pt )   · [ - log( pt ) ]</a:t>
            </a:r>
          </a:p>
        </p:txBody>
      </p:sp>
      <p:sp>
        <p:nvSpPr>
          <p:cNvPr id="25" name="TextBox 25"/>
          <p:cNvSpPr txBox="1"/>
          <p:nvPr/>
        </p:nvSpPr>
        <p:spPr>
          <a:xfrm>
            <a:off x="14115969" y="3687875"/>
            <a:ext cx="155322" cy="455325"/>
          </a:xfrm>
          <a:prstGeom prst="rect">
            <a:avLst/>
          </a:prstGeom>
        </p:spPr>
        <p:txBody>
          <a:bodyPr lIns="0" tIns="0" rIns="0" bIns="0" rtlCol="0" anchor="t">
            <a:spAutoFit/>
          </a:bodyPr>
          <a:lstStyle/>
          <a:p>
            <a:pPr algn="ctr">
              <a:lnSpc>
                <a:spcPts val="3778"/>
              </a:lnSpc>
              <a:spcBef>
                <a:spcPct val="0"/>
              </a:spcBef>
            </a:pPr>
            <a:r>
              <a:rPr lang="en-US" sz="2698" spc="-175">
                <a:solidFill>
                  <a:srgbClr val="094955"/>
                </a:solidFill>
                <a:latin typeface="DM Serif Display"/>
                <a:ea typeface="DM Serif Display"/>
                <a:cs typeface="DM Serif Display"/>
                <a:sym typeface="DM Serif Display"/>
              </a:rPr>
              <a:t>γ</a:t>
            </a:r>
          </a:p>
        </p:txBody>
      </p:sp>
      <p:sp>
        <p:nvSpPr>
          <p:cNvPr id="26" name="TextBox 26"/>
          <p:cNvSpPr txBox="1"/>
          <p:nvPr/>
        </p:nvSpPr>
        <p:spPr>
          <a:xfrm>
            <a:off x="9967400" y="4849882"/>
            <a:ext cx="256871" cy="306723"/>
          </a:xfrm>
          <a:prstGeom prst="rect">
            <a:avLst/>
          </a:prstGeom>
        </p:spPr>
        <p:txBody>
          <a:bodyPr lIns="0" tIns="0" rIns="0" bIns="0" rtlCol="0" anchor="t">
            <a:spAutoFit/>
          </a:bodyPr>
          <a:lstStyle/>
          <a:p>
            <a:pPr algn="l">
              <a:lnSpc>
                <a:spcPts val="2520"/>
              </a:lnSpc>
            </a:pPr>
            <a:r>
              <a:rPr lang="en-US" sz="1800" spc="-36">
                <a:solidFill>
                  <a:srgbClr val="F6FAFD"/>
                </a:solidFill>
                <a:latin typeface="Open Sauce"/>
                <a:ea typeface="Open Sauce"/>
                <a:cs typeface="Open Sauce"/>
                <a:sym typeface="Open Sauce"/>
              </a:rPr>
              <a:t>γ</a:t>
            </a:r>
          </a:p>
        </p:txBody>
      </p:sp>
      <p:pic>
        <p:nvPicPr>
          <p:cNvPr id="28" name="Immagine 27">
            <a:extLst>
              <a:ext uri="{FF2B5EF4-FFF2-40B4-BE49-F238E27FC236}">
                <a16:creationId xmlns:a16="http://schemas.microsoft.com/office/drawing/2014/main" id="{9098167A-391A-183E-F57A-68B2B4029479}"/>
              </a:ext>
            </a:extLst>
          </p:cNvPr>
          <p:cNvPicPr>
            <a:picLocks noChangeAspect="1"/>
          </p:cNvPicPr>
          <p:nvPr/>
        </p:nvPicPr>
        <p:blipFill>
          <a:blip r:embed="rId4"/>
          <a:stretch>
            <a:fillRect/>
          </a:stretch>
        </p:blipFill>
        <p:spPr>
          <a:xfrm>
            <a:off x="10840830" y="2247900"/>
            <a:ext cx="6705600" cy="2942746"/>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AutoShape 2"/>
          <p:cNvSpPr/>
          <p:nvPr/>
        </p:nvSpPr>
        <p:spPr>
          <a:xfrm>
            <a:off x="644860" y="865744"/>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3" name="Freeform 3"/>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4" name="Freeform 4"/>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5" name="Freeform 5"/>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6" name="Freeform 6"/>
          <p:cNvSpPr/>
          <p:nvPr/>
        </p:nvSpPr>
        <p:spPr>
          <a:xfrm>
            <a:off x="16692503"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7" name="Freeform 7"/>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8" name="TextBox 8"/>
          <p:cNvSpPr txBox="1"/>
          <p:nvPr/>
        </p:nvSpPr>
        <p:spPr>
          <a:xfrm>
            <a:off x="11689527" y="1087303"/>
            <a:ext cx="1136613"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PARALLEL</a:t>
            </a:r>
          </a:p>
        </p:txBody>
      </p:sp>
      <p:sp>
        <p:nvSpPr>
          <p:cNvPr id="9" name="Freeform 9"/>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0" name="TextBox 10"/>
          <p:cNvSpPr txBox="1"/>
          <p:nvPr/>
        </p:nvSpPr>
        <p:spPr>
          <a:xfrm>
            <a:off x="7505667" y="1205092"/>
            <a:ext cx="3275720"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SHARED STRUCTURES</a:t>
            </a:r>
          </a:p>
        </p:txBody>
      </p:sp>
      <p:sp>
        <p:nvSpPr>
          <p:cNvPr id="11" name="Freeform 11"/>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2" name="Freeform 12"/>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3" name="Freeform 13"/>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4" name="TextBox 14"/>
          <p:cNvSpPr txBox="1"/>
          <p:nvPr/>
        </p:nvSpPr>
        <p:spPr>
          <a:xfrm>
            <a:off x="2081223" y="1087303"/>
            <a:ext cx="1668800"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AUGMENTATION</a:t>
            </a:r>
          </a:p>
        </p:txBody>
      </p:sp>
      <p:sp>
        <p:nvSpPr>
          <p:cNvPr id="15" name="TextBox 15"/>
          <p:cNvSpPr txBox="1"/>
          <p:nvPr/>
        </p:nvSpPr>
        <p:spPr>
          <a:xfrm>
            <a:off x="5022751" y="1087303"/>
            <a:ext cx="201388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FOCAL LOSS</a:t>
            </a:r>
          </a:p>
        </p:txBody>
      </p:sp>
      <p:sp>
        <p:nvSpPr>
          <p:cNvPr id="16" name="TextBox 16"/>
          <p:cNvSpPr txBox="1"/>
          <p:nvPr/>
        </p:nvSpPr>
        <p:spPr>
          <a:xfrm>
            <a:off x="14814047" y="1087303"/>
            <a:ext cx="1115713"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CASCADE</a:t>
            </a:r>
          </a:p>
        </p:txBody>
      </p:sp>
      <p:sp>
        <p:nvSpPr>
          <p:cNvPr id="17" name="Freeform 17"/>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sp>
        <p:nvSpPr>
          <p:cNvPr id="18" name="Freeform 18"/>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txBody>
          <a:bodyPr/>
          <a:lstStyle/>
          <a:p>
            <a:endParaRPr lang="it-IT"/>
          </a:p>
        </p:txBody>
      </p:sp>
      <p:grpSp>
        <p:nvGrpSpPr>
          <p:cNvPr id="19" name="Group 19"/>
          <p:cNvGrpSpPr/>
          <p:nvPr/>
        </p:nvGrpSpPr>
        <p:grpSpPr>
          <a:xfrm>
            <a:off x="1027754" y="2574767"/>
            <a:ext cx="16231546" cy="3449571"/>
            <a:chOff x="0" y="0"/>
            <a:chExt cx="4274975" cy="908529"/>
          </a:xfrm>
        </p:grpSpPr>
        <p:sp>
          <p:nvSpPr>
            <p:cNvPr id="20" name="Freeform 20"/>
            <p:cNvSpPr/>
            <p:nvPr/>
          </p:nvSpPr>
          <p:spPr>
            <a:xfrm>
              <a:off x="0" y="0"/>
              <a:ext cx="4274975" cy="908529"/>
            </a:xfrm>
            <a:custGeom>
              <a:avLst/>
              <a:gdLst/>
              <a:ahLst/>
              <a:cxnLst/>
              <a:rect l="l" t="t" r="r" b="b"/>
              <a:pathLst>
                <a:path w="4274975" h="908529">
                  <a:moveTo>
                    <a:pt x="16694" y="0"/>
                  </a:moveTo>
                  <a:lnTo>
                    <a:pt x="4258281" y="0"/>
                  </a:lnTo>
                  <a:cubicBezTo>
                    <a:pt x="4267501" y="0"/>
                    <a:pt x="4274975" y="7474"/>
                    <a:pt x="4274975" y="16694"/>
                  </a:cubicBezTo>
                  <a:lnTo>
                    <a:pt x="4274975" y="891835"/>
                  </a:lnTo>
                  <a:cubicBezTo>
                    <a:pt x="4274975" y="901055"/>
                    <a:pt x="4267501" y="908529"/>
                    <a:pt x="4258281" y="908529"/>
                  </a:cubicBezTo>
                  <a:lnTo>
                    <a:pt x="16694" y="908529"/>
                  </a:lnTo>
                  <a:cubicBezTo>
                    <a:pt x="7474" y="908529"/>
                    <a:pt x="0" y="901055"/>
                    <a:pt x="0" y="891835"/>
                  </a:cubicBezTo>
                  <a:lnTo>
                    <a:pt x="0" y="16694"/>
                  </a:lnTo>
                  <a:cubicBezTo>
                    <a:pt x="0" y="7474"/>
                    <a:pt x="7474" y="0"/>
                    <a:pt x="16694" y="0"/>
                  </a:cubicBezTo>
                  <a:close/>
                </a:path>
              </a:pathLst>
            </a:custGeom>
            <a:ln w="19050" cap="rnd">
              <a:noFill/>
              <a:prstDash val="solid"/>
              <a:round/>
            </a:ln>
          </p:spPr>
          <p:txBody>
            <a:bodyPr/>
            <a:lstStyle/>
            <a:p>
              <a:endParaRPr lang="it-IT"/>
            </a:p>
          </p:txBody>
        </p:sp>
        <p:sp>
          <p:nvSpPr>
            <p:cNvPr id="21" name="TextBox 21"/>
            <p:cNvSpPr txBox="1"/>
            <p:nvPr/>
          </p:nvSpPr>
          <p:spPr>
            <a:xfrm>
              <a:off x="0" y="-38100"/>
              <a:ext cx="4274975" cy="946629"/>
            </a:xfrm>
            <a:prstGeom prst="rect">
              <a:avLst/>
            </a:prstGeom>
            <a:ln>
              <a:noFill/>
            </a:ln>
          </p:spPr>
          <p:txBody>
            <a:bodyPr lIns="50800" tIns="50800" rIns="50800" bIns="50800" rtlCol="0" anchor="ctr"/>
            <a:lstStyle/>
            <a:p>
              <a:pPr algn="ctr">
                <a:lnSpc>
                  <a:spcPts val="2659"/>
                </a:lnSpc>
              </a:pPr>
              <a:endParaRPr/>
            </a:p>
          </p:txBody>
        </p:sp>
      </p:grpSp>
      <p:grpSp>
        <p:nvGrpSpPr>
          <p:cNvPr id="22" name="Group 22"/>
          <p:cNvGrpSpPr/>
          <p:nvPr/>
        </p:nvGrpSpPr>
        <p:grpSpPr>
          <a:xfrm>
            <a:off x="1027754" y="6610500"/>
            <a:ext cx="7856588" cy="2945549"/>
            <a:chOff x="0" y="0"/>
            <a:chExt cx="2069225" cy="775782"/>
          </a:xfrm>
          <a:solidFill>
            <a:srgbClr val="094955"/>
          </a:solidFill>
        </p:grpSpPr>
        <p:sp>
          <p:nvSpPr>
            <p:cNvPr id="23" name="Freeform 23"/>
            <p:cNvSpPr/>
            <p:nvPr/>
          </p:nvSpPr>
          <p:spPr>
            <a:xfrm>
              <a:off x="0" y="0"/>
              <a:ext cx="2069225" cy="775782"/>
            </a:xfrm>
            <a:custGeom>
              <a:avLst/>
              <a:gdLst/>
              <a:ahLst/>
              <a:cxnLst/>
              <a:rect l="l" t="t" r="r" b="b"/>
              <a:pathLst>
                <a:path w="2069225" h="775782">
                  <a:moveTo>
                    <a:pt x="34489" y="0"/>
                  </a:moveTo>
                  <a:lnTo>
                    <a:pt x="2034735" y="0"/>
                  </a:lnTo>
                  <a:cubicBezTo>
                    <a:pt x="2043883" y="0"/>
                    <a:pt x="2052655" y="3634"/>
                    <a:pt x="2059123" y="10102"/>
                  </a:cubicBezTo>
                  <a:cubicBezTo>
                    <a:pt x="2065591" y="16570"/>
                    <a:pt x="2069225" y="25342"/>
                    <a:pt x="2069225" y="34489"/>
                  </a:cubicBezTo>
                  <a:lnTo>
                    <a:pt x="2069225" y="741293"/>
                  </a:lnTo>
                  <a:cubicBezTo>
                    <a:pt x="2069225" y="750440"/>
                    <a:pt x="2065591" y="759213"/>
                    <a:pt x="2059123" y="765681"/>
                  </a:cubicBezTo>
                  <a:cubicBezTo>
                    <a:pt x="2052655" y="772149"/>
                    <a:pt x="2043883" y="775782"/>
                    <a:pt x="2034735" y="775782"/>
                  </a:cubicBezTo>
                  <a:lnTo>
                    <a:pt x="34489" y="775782"/>
                  </a:lnTo>
                  <a:cubicBezTo>
                    <a:pt x="25342" y="775782"/>
                    <a:pt x="16570" y="772149"/>
                    <a:pt x="10102" y="765681"/>
                  </a:cubicBezTo>
                  <a:cubicBezTo>
                    <a:pt x="3634" y="759213"/>
                    <a:pt x="0" y="750440"/>
                    <a:pt x="0" y="741293"/>
                  </a:cubicBezTo>
                  <a:lnTo>
                    <a:pt x="0" y="34489"/>
                  </a:lnTo>
                  <a:cubicBezTo>
                    <a:pt x="0" y="25342"/>
                    <a:pt x="3634" y="16570"/>
                    <a:pt x="10102" y="10102"/>
                  </a:cubicBezTo>
                  <a:cubicBezTo>
                    <a:pt x="16570" y="3634"/>
                    <a:pt x="25342" y="0"/>
                    <a:pt x="34489" y="0"/>
                  </a:cubicBezTo>
                  <a:close/>
                </a:path>
              </a:pathLst>
            </a:custGeom>
            <a:grpFill/>
            <a:ln w="19050" cap="rnd">
              <a:noFill/>
              <a:prstDash val="solid"/>
              <a:round/>
            </a:ln>
          </p:spPr>
          <p:txBody>
            <a:bodyPr/>
            <a:lstStyle/>
            <a:p>
              <a:endParaRPr lang="it-IT"/>
            </a:p>
          </p:txBody>
        </p:sp>
        <p:sp>
          <p:nvSpPr>
            <p:cNvPr id="24" name="TextBox 24"/>
            <p:cNvSpPr txBox="1"/>
            <p:nvPr/>
          </p:nvSpPr>
          <p:spPr>
            <a:xfrm>
              <a:off x="0" y="-38100"/>
              <a:ext cx="2069225" cy="813882"/>
            </a:xfrm>
            <a:prstGeom prst="rect">
              <a:avLst/>
            </a:prstGeom>
            <a:grpFill/>
            <a:ln>
              <a:noFill/>
            </a:ln>
          </p:spPr>
          <p:txBody>
            <a:bodyPr lIns="50800" tIns="50800" rIns="50800" bIns="50800" rtlCol="0" anchor="ctr"/>
            <a:lstStyle/>
            <a:p>
              <a:pPr algn="ctr">
                <a:lnSpc>
                  <a:spcPts val="2659"/>
                </a:lnSpc>
              </a:pPr>
              <a:endParaRPr/>
            </a:p>
          </p:txBody>
        </p:sp>
      </p:grpSp>
      <p:grpSp>
        <p:nvGrpSpPr>
          <p:cNvPr id="25" name="Group 25"/>
          <p:cNvGrpSpPr/>
          <p:nvPr/>
        </p:nvGrpSpPr>
        <p:grpSpPr>
          <a:xfrm>
            <a:off x="9403659" y="6610500"/>
            <a:ext cx="7855641" cy="2945549"/>
            <a:chOff x="0" y="0"/>
            <a:chExt cx="2068975" cy="775782"/>
          </a:xfrm>
          <a:solidFill>
            <a:srgbClr val="094955"/>
          </a:solidFill>
        </p:grpSpPr>
        <p:sp>
          <p:nvSpPr>
            <p:cNvPr id="26" name="Freeform 26"/>
            <p:cNvSpPr/>
            <p:nvPr/>
          </p:nvSpPr>
          <p:spPr>
            <a:xfrm>
              <a:off x="0" y="0"/>
              <a:ext cx="2068975" cy="775782"/>
            </a:xfrm>
            <a:custGeom>
              <a:avLst/>
              <a:gdLst/>
              <a:ahLst/>
              <a:cxnLst/>
              <a:rect l="l" t="t" r="r" b="b"/>
              <a:pathLst>
                <a:path w="2068975" h="775782">
                  <a:moveTo>
                    <a:pt x="34493" y="0"/>
                  </a:moveTo>
                  <a:lnTo>
                    <a:pt x="2034482" y="0"/>
                  </a:lnTo>
                  <a:cubicBezTo>
                    <a:pt x="2043630" y="0"/>
                    <a:pt x="2052404" y="3634"/>
                    <a:pt x="2058873" y="10103"/>
                  </a:cubicBezTo>
                  <a:cubicBezTo>
                    <a:pt x="2065341" y="16572"/>
                    <a:pt x="2068975" y="25345"/>
                    <a:pt x="2068975" y="34493"/>
                  </a:cubicBezTo>
                  <a:lnTo>
                    <a:pt x="2068975" y="741289"/>
                  </a:lnTo>
                  <a:cubicBezTo>
                    <a:pt x="2068975" y="750437"/>
                    <a:pt x="2065341" y="759211"/>
                    <a:pt x="2058873" y="765680"/>
                  </a:cubicBezTo>
                  <a:cubicBezTo>
                    <a:pt x="2052404" y="772148"/>
                    <a:pt x="2043630" y="775782"/>
                    <a:pt x="2034482" y="775782"/>
                  </a:cubicBezTo>
                  <a:lnTo>
                    <a:pt x="34493" y="775782"/>
                  </a:lnTo>
                  <a:cubicBezTo>
                    <a:pt x="25345" y="775782"/>
                    <a:pt x="16572" y="772148"/>
                    <a:pt x="10103" y="765680"/>
                  </a:cubicBezTo>
                  <a:cubicBezTo>
                    <a:pt x="3634" y="759211"/>
                    <a:pt x="0" y="750437"/>
                    <a:pt x="0" y="741289"/>
                  </a:cubicBezTo>
                  <a:lnTo>
                    <a:pt x="0" y="34493"/>
                  </a:lnTo>
                  <a:cubicBezTo>
                    <a:pt x="0" y="25345"/>
                    <a:pt x="3634" y="16572"/>
                    <a:pt x="10103" y="10103"/>
                  </a:cubicBezTo>
                  <a:cubicBezTo>
                    <a:pt x="16572" y="3634"/>
                    <a:pt x="25345" y="0"/>
                    <a:pt x="34493" y="0"/>
                  </a:cubicBezTo>
                  <a:close/>
                </a:path>
              </a:pathLst>
            </a:custGeom>
            <a:grpFill/>
            <a:ln w="19050" cap="rnd">
              <a:noFill/>
              <a:prstDash val="solid"/>
              <a:round/>
            </a:ln>
          </p:spPr>
          <p:txBody>
            <a:bodyPr/>
            <a:lstStyle/>
            <a:p>
              <a:endParaRPr lang="it-IT"/>
            </a:p>
          </p:txBody>
        </p:sp>
        <p:sp>
          <p:nvSpPr>
            <p:cNvPr id="27" name="TextBox 27"/>
            <p:cNvSpPr txBox="1"/>
            <p:nvPr/>
          </p:nvSpPr>
          <p:spPr>
            <a:xfrm>
              <a:off x="0" y="-38100"/>
              <a:ext cx="2068975" cy="813882"/>
            </a:xfrm>
            <a:prstGeom prst="rect">
              <a:avLst/>
            </a:prstGeom>
            <a:grpFill/>
            <a:ln>
              <a:noFill/>
            </a:ln>
          </p:spPr>
          <p:txBody>
            <a:bodyPr lIns="50800" tIns="50800" rIns="50800" bIns="50800" rtlCol="0" anchor="ctr"/>
            <a:lstStyle/>
            <a:p>
              <a:pPr algn="ctr">
                <a:lnSpc>
                  <a:spcPts val="2659"/>
                </a:lnSpc>
              </a:pPr>
              <a:endParaRPr/>
            </a:p>
          </p:txBody>
        </p:sp>
      </p:grpSp>
      <p:pic>
        <p:nvPicPr>
          <p:cNvPr id="32" name="Immagine 31">
            <a:extLst>
              <a:ext uri="{FF2B5EF4-FFF2-40B4-BE49-F238E27FC236}">
                <a16:creationId xmlns:a16="http://schemas.microsoft.com/office/drawing/2014/main" id="{28251104-8961-0268-B5CE-CCCF0C31EE5A}"/>
              </a:ext>
            </a:extLst>
          </p:cNvPr>
          <p:cNvPicPr>
            <a:picLocks noChangeAspect="1"/>
          </p:cNvPicPr>
          <p:nvPr/>
        </p:nvPicPr>
        <p:blipFill>
          <a:blip r:embed="rId4"/>
          <a:stretch>
            <a:fillRect/>
          </a:stretch>
        </p:blipFill>
        <p:spPr>
          <a:xfrm>
            <a:off x="644860" y="2171700"/>
            <a:ext cx="17145300" cy="7715384"/>
          </a:xfrm>
          <a:prstGeom prst="rect">
            <a:avLst/>
          </a:prstGeom>
        </p:spPr>
      </p:pic>
      <p:sp>
        <p:nvSpPr>
          <p:cNvPr id="28" name="TextBox 28"/>
          <p:cNvSpPr txBox="1"/>
          <p:nvPr/>
        </p:nvSpPr>
        <p:spPr>
          <a:xfrm>
            <a:off x="1578064" y="2830471"/>
            <a:ext cx="15131872" cy="2789429"/>
          </a:xfrm>
          <a:prstGeom prst="rect">
            <a:avLst/>
          </a:prstGeom>
          <a:solidFill>
            <a:srgbClr val="094955"/>
          </a:solidFill>
        </p:spPr>
        <p:txBody>
          <a:bodyPr lIns="0" tIns="0" rIns="0" bIns="0" rtlCol="0" anchor="t">
            <a:spAutoFit/>
          </a:bodyPr>
          <a:lstStyle/>
          <a:p>
            <a:pPr algn="l">
              <a:lnSpc>
                <a:spcPts val="3219"/>
              </a:lnSpc>
            </a:pPr>
            <a:r>
              <a:rPr lang="en-US" sz="2299" b="1" spc="-45" dirty="0">
                <a:solidFill>
                  <a:srgbClr val="F6FAFD"/>
                </a:solidFill>
                <a:latin typeface="Open Sauce Bold"/>
                <a:ea typeface="Open Sauce Bold"/>
                <a:cs typeface="Open Sauce Bold"/>
                <a:sym typeface="Open Sauce Bold"/>
              </a:rPr>
              <a:t>BACKBONE - EFFICIENTNETV2B2 </a:t>
            </a:r>
            <a:r>
              <a:rPr lang="en-US" sz="2299" spc="-45" dirty="0">
                <a:solidFill>
                  <a:srgbClr val="F6FAFD"/>
                </a:solidFill>
                <a:latin typeface="Open Sauce"/>
                <a:ea typeface="Open Sauce"/>
                <a:cs typeface="Open Sauce"/>
                <a:sym typeface="Open Sauce"/>
              </a:rPr>
              <a:t>[4]</a:t>
            </a:r>
          </a:p>
          <a:p>
            <a:pPr algn="l">
              <a:lnSpc>
                <a:spcPts val="3219"/>
              </a:lnSpc>
            </a:pPr>
            <a:endParaRPr lang="en-US" sz="2299" spc="-45" dirty="0">
              <a:solidFill>
                <a:srgbClr val="F6FAFD"/>
              </a:solidFill>
              <a:latin typeface="Open Sauce"/>
              <a:ea typeface="Open Sauce"/>
              <a:cs typeface="Open Sauce"/>
              <a:sym typeface="Open Sauce"/>
            </a:endParaRPr>
          </a:p>
          <a:p>
            <a:pPr algn="l">
              <a:lnSpc>
                <a:spcPts val="3219"/>
              </a:lnSpc>
            </a:pPr>
            <a:r>
              <a:rPr lang="en-US" sz="2299" spc="-45" dirty="0">
                <a:solidFill>
                  <a:srgbClr val="F6FAFD"/>
                </a:solidFill>
                <a:latin typeface="Open Sauce"/>
                <a:ea typeface="Open Sauce"/>
                <a:cs typeface="Open Sauce"/>
                <a:sym typeface="Open Sauce"/>
              </a:rPr>
              <a:t>Pretrained visual feature extractor loaded from ImageNet weights.</a:t>
            </a:r>
          </a:p>
          <a:p>
            <a:pPr algn="l">
              <a:lnSpc>
                <a:spcPts val="3219"/>
              </a:lnSpc>
            </a:pPr>
            <a:r>
              <a:rPr lang="en-US" sz="2299" spc="-45" dirty="0">
                <a:solidFill>
                  <a:srgbClr val="F6FAFD"/>
                </a:solidFill>
                <a:latin typeface="Open Sauce"/>
                <a:ea typeface="Open Sauce"/>
                <a:cs typeface="Open Sauce"/>
                <a:sym typeface="Open Sauce"/>
              </a:rPr>
              <a:t>Outputs spatial feature maps encoding for shapes, textures, and structures.</a:t>
            </a:r>
          </a:p>
          <a:p>
            <a:pPr marL="496567" lvl="1" indent="-248284" algn="l">
              <a:lnSpc>
                <a:spcPts val="3219"/>
              </a:lnSpc>
              <a:buFont typeface="Arial"/>
              <a:buChar char="•"/>
            </a:pPr>
            <a:r>
              <a:rPr lang="en-US" sz="2299" spc="-45" dirty="0">
                <a:solidFill>
                  <a:srgbClr val="F6FAFD"/>
                </a:solidFill>
                <a:latin typeface="Open Sauce"/>
                <a:ea typeface="Open Sauce"/>
                <a:cs typeface="Open Sauce"/>
                <a:sym typeface="Open Sauce"/>
              </a:rPr>
              <a:t>Phase 1 - frozen: backbone weights are locked; only neck and head train (high learning rate). </a:t>
            </a:r>
          </a:p>
          <a:p>
            <a:pPr marL="496567" lvl="1" indent="-248284" algn="l">
              <a:lnSpc>
                <a:spcPts val="3219"/>
              </a:lnSpc>
              <a:buFont typeface="Arial"/>
              <a:buChar char="•"/>
            </a:pPr>
            <a:r>
              <a:rPr lang="en-US" sz="2299" spc="-45" dirty="0">
                <a:solidFill>
                  <a:srgbClr val="F6FAFD"/>
                </a:solidFill>
                <a:latin typeface="Open Sauce"/>
                <a:ea typeface="Open Sauce"/>
                <a:cs typeface="Open Sauce"/>
                <a:sym typeface="Open Sauce"/>
              </a:rPr>
              <a:t>Phase 2 - fine-tuning (up to 40 epochs): the last 10% to 15% of backbone layers are unfrozen and adapt to the sailing domain (learning rate drops to prevent catastrophic forgetting).</a:t>
            </a:r>
          </a:p>
        </p:txBody>
      </p:sp>
      <p:sp>
        <p:nvSpPr>
          <p:cNvPr id="29" name="TextBox 29"/>
          <p:cNvSpPr txBox="1"/>
          <p:nvPr/>
        </p:nvSpPr>
        <p:spPr>
          <a:xfrm>
            <a:off x="1578064" y="6877200"/>
            <a:ext cx="6699544" cy="2379872"/>
          </a:xfrm>
          <a:prstGeom prst="rect">
            <a:avLst/>
          </a:prstGeom>
          <a:solidFill>
            <a:srgbClr val="094955"/>
          </a:solidFill>
        </p:spPr>
        <p:txBody>
          <a:bodyPr lIns="0" tIns="0" rIns="0" bIns="0" rtlCol="0" anchor="t">
            <a:spAutoFit/>
          </a:bodyPr>
          <a:lstStyle/>
          <a:p>
            <a:pPr algn="l">
              <a:lnSpc>
                <a:spcPts val="3220"/>
              </a:lnSpc>
            </a:pPr>
            <a:r>
              <a:rPr lang="en-US" sz="2300" b="1" spc="-46" dirty="0">
                <a:solidFill>
                  <a:srgbClr val="F6FAFD"/>
                </a:solidFill>
                <a:latin typeface="Open Sauce Bold"/>
                <a:ea typeface="Open Sauce Bold"/>
                <a:cs typeface="Open Sauce Bold"/>
                <a:sym typeface="Open Sauce Bold"/>
              </a:rPr>
              <a:t>NECK - BOTTLENECK PROJECTION</a:t>
            </a:r>
          </a:p>
          <a:p>
            <a:pPr algn="l">
              <a:lnSpc>
                <a:spcPts val="3220"/>
              </a:lnSpc>
            </a:pPr>
            <a:endParaRPr lang="en-US" sz="2300" b="1" spc="-46" dirty="0">
              <a:solidFill>
                <a:srgbClr val="F6FAFD"/>
              </a:solidFill>
              <a:latin typeface="Open Sauce Bold"/>
              <a:ea typeface="Open Sauce Bold"/>
              <a:cs typeface="Open Sauce Bold"/>
              <a:sym typeface="Open Sauce Bold"/>
            </a:endParaRP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Conv2D + BN + </a:t>
            </a:r>
            <a:r>
              <a:rPr lang="en-US" sz="2300" spc="-46" dirty="0" err="1">
                <a:solidFill>
                  <a:srgbClr val="F6FAFD"/>
                </a:solidFill>
                <a:latin typeface="Open Sauce"/>
                <a:ea typeface="Open Sauce"/>
                <a:cs typeface="Open Sauce"/>
                <a:sym typeface="Open Sauce"/>
              </a:rPr>
              <a:t>ReLU</a:t>
            </a:r>
            <a:endParaRPr lang="en-US" sz="2300" spc="-46" dirty="0">
              <a:solidFill>
                <a:srgbClr val="F6FAFD"/>
              </a:solidFill>
              <a:latin typeface="Open Sauce"/>
              <a:ea typeface="Open Sauce"/>
              <a:cs typeface="Open Sauce"/>
              <a:sym typeface="Open Sauce"/>
            </a:endParaRP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GlobalAveragePooling2D</a:t>
            </a: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Dense + BN + </a:t>
            </a:r>
            <a:r>
              <a:rPr lang="en-US" sz="2300" spc="-46" dirty="0" err="1">
                <a:solidFill>
                  <a:srgbClr val="F6FAFD"/>
                </a:solidFill>
                <a:latin typeface="Open Sauce"/>
                <a:ea typeface="Open Sauce"/>
                <a:cs typeface="Open Sauce"/>
                <a:sym typeface="Open Sauce"/>
              </a:rPr>
              <a:t>ReLU</a:t>
            </a:r>
            <a:r>
              <a:rPr lang="en-US" sz="2300" spc="-46" dirty="0">
                <a:solidFill>
                  <a:srgbClr val="F6FAFD"/>
                </a:solidFill>
                <a:latin typeface="Open Sauce"/>
                <a:ea typeface="Open Sauce"/>
                <a:cs typeface="Open Sauce"/>
                <a:sym typeface="Open Sauce"/>
              </a:rPr>
              <a:t> + Dropout</a:t>
            </a: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L2 regularization </a:t>
            </a:r>
          </a:p>
        </p:txBody>
      </p:sp>
      <p:sp>
        <p:nvSpPr>
          <p:cNvPr id="30" name="TextBox 30"/>
          <p:cNvSpPr txBox="1"/>
          <p:nvPr/>
        </p:nvSpPr>
        <p:spPr>
          <a:xfrm>
            <a:off x="10010392" y="6874289"/>
            <a:ext cx="6699544" cy="2379872"/>
          </a:xfrm>
          <a:prstGeom prst="rect">
            <a:avLst/>
          </a:prstGeom>
          <a:solidFill>
            <a:srgbClr val="094955"/>
          </a:solidFill>
        </p:spPr>
        <p:txBody>
          <a:bodyPr lIns="0" tIns="0" rIns="0" bIns="0" rtlCol="0" anchor="t">
            <a:spAutoFit/>
          </a:bodyPr>
          <a:lstStyle/>
          <a:p>
            <a:pPr algn="l">
              <a:lnSpc>
                <a:spcPts val="3220"/>
              </a:lnSpc>
            </a:pPr>
            <a:r>
              <a:rPr lang="en-US" sz="2300" b="1" spc="-46" dirty="0">
                <a:solidFill>
                  <a:srgbClr val="F6FAFD"/>
                </a:solidFill>
                <a:latin typeface="Open Sauce Bold"/>
                <a:ea typeface="Open Sauce Bold"/>
                <a:cs typeface="Open Sauce Bold"/>
                <a:sym typeface="Open Sauce Bold"/>
              </a:rPr>
              <a:t>HEADS - BOAT-TYPE, SIDE AND DIRECTION</a:t>
            </a:r>
          </a:p>
          <a:p>
            <a:pPr algn="l">
              <a:lnSpc>
                <a:spcPts val="3220"/>
              </a:lnSpc>
            </a:pPr>
            <a:endParaRPr lang="en-US" sz="2300" b="1" spc="-46" dirty="0">
              <a:solidFill>
                <a:srgbClr val="F6FAFD"/>
              </a:solidFill>
              <a:latin typeface="Open Sauce Bold"/>
              <a:ea typeface="Open Sauce Bold"/>
              <a:cs typeface="Open Sauce Bold"/>
              <a:sym typeface="Open Sauce Bold"/>
            </a:endParaRP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Dense + BN + </a:t>
            </a:r>
            <a:r>
              <a:rPr lang="en-US" sz="2300" spc="-46" dirty="0" err="1">
                <a:solidFill>
                  <a:srgbClr val="F6FAFD"/>
                </a:solidFill>
                <a:latin typeface="Open Sauce"/>
                <a:ea typeface="Open Sauce"/>
                <a:cs typeface="Open Sauce"/>
                <a:sym typeface="Open Sauce"/>
              </a:rPr>
              <a:t>ReLU</a:t>
            </a:r>
            <a:r>
              <a:rPr lang="en-US" sz="2300" spc="-46" dirty="0">
                <a:solidFill>
                  <a:srgbClr val="F6FAFD"/>
                </a:solidFill>
                <a:latin typeface="Open Sauce"/>
                <a:ea typeface="Open Sauce"/>
                <a:cs typeface="Open Sauce"/>
                <a:sym typeface="Open Sauce"/>
              </a:rPr>
              <a:t> + Dropout</a:t>
            </a: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L2 regularization </a:t>
            </a:r>
          </a:p>
          <a:p>
            <a:pPr marL="496571" lvl="1" indent="-248285" algn="l">
              <a:lnSpc>
                <a:spcPts val="3220"/>
              </a:lnSpc>
              <a:buFont typeface="Arial"/>
              <a:buChar char="•"/>
            </a:pPr>
            <a:r>
              <a:rPr lang="en-US" sz="2300" spc="-46" dirty="0">
                <a:solidFill>
                  <a:srgbClr val="F6FAFD"/>
                </a:solidFill>
                <a:latin typeface="Open Sauce"/>
                <a:ea typeface="Open Sauce"/>
                <a:cs typeface="Open Sauce"/>
                <a:sym typeface="Open Sauce"/>
              </a:rPr>
              <a:t>Dense (variable for output dimensions)</a:t>
            </a:r>
          </a:p>
          <a:p>
            <a:pPr algn="l">
              <a:lnSpc>
                <a:spcPts val="3220"/>
              </a:lnSpc>
            </a:pPr>
            <a:endParaRPr lang="en-US" sz="2300" spc="-46" dirty="0">
              <a:solidFill>
                <a:srgbClr val="F6FAFD"/>
              </a:solidFill>
              <a:latin typeface="Open Sauce"/>
              <a:ea typeface="Open Sauce"/>
              <a:cs typeface="Open Sauce"/>
              <a:sym typeface="Open Sauce"/>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Freeform 3"/>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16692503"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Freeform 6"/>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TextBox 7"/>
          <p:cNvSpPr txBox="1"/>
          <p:nvPr/>
        </p:nvSpPr>
        <p:spPr>
          <a:xfrm>
            <a:off x="11689527" y="1087303"/>
            <a:ext cx="1136613"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CASCADE</a:t>
            </a:r>
          </a:p>
        </p:txBody>
      </p:sp>
      <p:sp>
        <p:nvSpPr>
          <p:cNvPr id="8" name="Freeform 8"/>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9" name="TextBox 9"/>
          <p:cNvSpPr txBox="1"/>
          <p:nvPr/>
        </p:nvSpPr>
        <p:spPr>
          <a:xfrm>
            <a:off x="7647693" y="1205092"/>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PARALLEL</a:t>
            </a:r>
          </a:p>
        </p:txBody>
      </p:sp>
      <p:sp>
        <p:nvSpPr>
          <p:cNvPr id="10" name="Freeform 10"/>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Freeform 11"/>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2" name="Freeform 12"/>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3" name="TextBox 13"/>
          <p:cNvSpPr txBox="1"/>
          <p:nvPr/>
        </p:nvSpPr>
        <p:spPr>
          <a:xfrm>
            <a:off x="1749659" y="1087303"/>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FOCAL LOSS</a:t>
            </a:r>
          </a:p>
        </p:txBody>
      </p:sp>
      <p:sp>
        <p:nvSpPr>
          <p:cNvPr id="14" name="TextBox 14"/>
          <p:cNvSpPr txBox="1"/>
          <p:nvPr/>
        </p:nvSpPr>
        <p:spPr>
          <a:xfrm>
            <a:off x="4780846" y="1087303"/>
            <a:ext cx="249769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sp>
        <p:nvSpPr>
          <p:cNvPr id="15" name="TextBox 15"/>
          <p:cNvSpPr txBox="1"/>
          <p:nvPr/>
        </p:nvSpPr>
        <p:spPr>
          <a:xfrm>
            <a:off x="14296169" y="1087303"/>
            <a:ext cx="2114381"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HYBRID</a:t>
            </a:r>
          </a:p>
        </p:txBody>
      </p:sp>
      <p:sp>
        <p:nvSpPr>
          <p:cNvPr id="16" name="Freeform 16"/>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7" name="AutoShape 17"/>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18" name="Freeform 18"/>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22" name="Freeform 22"/>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23" name="TextBox 23"/>
          <p:cNvSpPr txBox="1"/>
          <p:nvPr/>
        </p:nvSpPr>
        <p:spPr>
          <a:xfrm>
            <a:off x="1028700" y="2307569"/>
            <a:ext cx="8760941" cy="615914"/>
          </a:xfrm>
          <a:prstGeom prst="rect">
            <a:avLst/>
          </a:prstGeom>
        </p:spPr>
        <p:txBody>
          <a:bodyPr lIns="0" tIns="0" rIns="0" bIns="0" rtlCol="0" anchor="t">
            <a:spAutoFit/>
          </a:bodyPr>
          <a:lstStyle/>
          <a:p>
            <a:pPr algn="l">
              <a:lnSpc>
                <a:spcPts val="4450"/>
              </a:lnSpc>
            </a:pPr>
            <a:r>
              <a:rPr lang="en-US" sz="5000" b="1" spc="-70">
                <a:solidFill>
                  <a:srgbClr val="F6FAFD"/>
                </a:solidFill>
                <a:latin typeface="Open Sauce Heavy"/>
                <a:ea typeface="Open Sauce Heavy"/>
                <a:cs typeface="Open Sauce Heavy"/>
                <a:sym typeface="Open Sauce Heavy"/>
              </a:rPr>
              <a:t>SINGLE-HEAD</a:t>
            </a:r>
          </a:p>
        </p:txBody>
      </p:sp>
      <p:sp>
        <p:nvSpPr>
          <p:cNvPr id="24" name="TextBox 24"/>
          <p:cNvSpPr txBox="1"/>
          <p:nvPr/>
        </p:nvSpPr>
        <p:spPr>
          <a:xfrm>
            <a:off x="1028227" y="7268935"/>
            <a:ext cx="8761414" cy="1989365"/>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The vector generated by the neck is feed to a single shared Dense layer. As usual this layer is followed by BN + ReLU + Dropout.</a:t>
            </a:r>
          </a:p>
          <a:p>
            <a:pPr algn="l">
              <a:lnSpc>
                <a:spcPts val="3219"/>
              </a:lnSpc>
            </a:pPr>
            <a:r>
              <a:rPr lang="en-US" sz="2299" spc="-45">
                <a:solidFill>
                  <a:srgbClr val="F6FAFD"/>
                </a:solidFill>
                <a:latin typeface="Open Sauce"/>
                <a:ea typeface="Open Sauce"/>
                <a:cs typeface="Open Sauce"/>
                <a:sym typeface="Open Sauce"/>
              </a:rPr>
              <a:t>The output is sent to three independent softmax heads (one for each classification task).</a:t>
            </a:r>
          </a:p>
        </p:txBody>
      </p:sp>
      <p:sp>
        <p:nvSpPr>
          <p:cNvPr id="39" name="TextBox 39"/>
          <p:cNvSpPr txBox="1"/>
          <p:nvPr/>
        </p:nvSpPr>
        <p:spPr>
          <a:xfrm>
            <a:off x="10640307" y="3268616"/>
            <a:ext cx="6618993" cy="5989684"/>
          </a:xfrm>
          <a:prstGeom prst="rect">
            <a:avLst/>
          </a:prstGeom>
        </p:spPr>
        <p:txBody>
          <a:bodyPr lIns="0" tIns="0" rIns="0" bIns="0" rtlCol="0" anchor="t">
            <a:spAutoFit/>
          </a:bodyPr>
          <a:lstStyle/>
          <a:p>
            <a:pPr algn="l">
              <a:lnSpc>
                <a:spcPts val="3219"/>
              </a:lnSpc>
            </a:pPr>
            <a:r>
              <a:rPr lang="en-US" sz="2299" b="1" spc="-45">
                <a:solidFill>
                  <a:srgbClr val="F6FAFD"/>
                </a:solidFill>
                <a:latin typeface="Open Sauce Bold"/>
                <a:ea typeface="Open Sauce Bold"/>
                <a:cs typeface="Open Sauce Bold"/>
                <a:sym typeface="Open Sauce Bold"/>
              </a:rPr>
              <a:t>STRUCTURAL LIMIT: </a:t>
            </a:r>
          </a:p>
          <a:p>
            <a:pPr algn="l">
              <a:lnSpc>
                <a:spcPts val="3219"/>
              </a:lnSpc>
            </a:pPr>
            <a:endParaRPr lang="en-US" sz="2299" b="1" spc="-45">
              <a:solidFill>
                <a:srgbClr val="F6FAFD"/>
              </a:solidFill>
              <a:latin typeface="Open Sauce Bold"/>
              <a:ea typeface="Open Sauce Bold"/>
              <a:cs typeface="Open Sauce Bold"/>
              <a:sym typeface="Open Sauce Bold"/>
            </a:endParaRPr>
          </a:p>
          <a:p>
            <a:pPr algn="l">
              <a:lnSpc>
                <a:spcPts val="3219"/>
              </a:lnSpc>
            </a:pPr>
            <a:r>
              <a:rPr lang="en-US" sz="2299" spc="-45">
                <a:solidFill>
                  <a:srgbClr val="F6FAFD"/>
                </a:solidFill>
                <a:latin typeface="Open Sauce"/>
                <a:ea typeface="Open Sauce"/>
                <a:cs typeface="Open Sauce"/>
                <a:sym typeface="Open Sauce"/>
              </a:rPr>
              <a:t>Since all three tasks receive identical input with no information flowing between branches, the model treats each classification problem as fully independent. </a:t>
            </a:r>
          </a:p>
          <a:p>
            <a:pPr algn="l">
              <a:lnSpc>
                <a:spcPts val="3219"/>
              </a:lnSpc>
            </a:pPr>
            <a:r>
              <a:rPr lang="en-US" sz="2299" spc="-45">
                <a:solidFill>
                  <a:srgbClr val="F6FAFD"/>
                </a:solidFill>
                <a:latin typeface="Open Sauce"/>
                <a:ea typeface="Open Sauce"/>
                <a:cs typeface="Open Sauce"/>
                <a:sym typeface="Open Sauce"/>
              </a:rPr>
              <a:t>In reality, the tasks are semantically linked: knowing the boat type constrains the plausible set of points of sail, and side (port/starboard) is geometrically correlated with direction. </a:t>
            </a:r>
          </a:p>
          <a:p>
            <a:pPr algn="l">
              <a:lnSpc>
                <a:spcPts val="3219"/>
              </a:lnSpc>
            </a:pPr>
            <a:r>
              <a:rPr lang="en-US" sz="2299" spc="-45">
                <a:solidFill>
                  <a:srgbClr val="F6FAFD"/>
                </a:solidFill>
                <a:latin typeface="Open Sauce"/>
                <a:ea typeface="Open Sauce"/>
                <a:cs typeface="Open Sauce"/>
                <a:sym typeface="Open Sauce"/>
              </a:rPr>
              <a:t>A parallel architecture cannot exploit these dependencies as any correlation learned is implicit, encoded in the shared weights, rather than explicitly modeled as a directed flow of information from one prediction to the next.</a:t>
            </a:r>
          </a:p>
        </p:txBody>
      </p:sp>
      <p:pic>
        <p:nvPicPr>
          <p:cNvPr id="47" name="Immagine 46">
            <a:extLst>
              <a:ext uri="{FF2B5EF4-FFF2-40B4-BE49-F238E27FC236}">
                <a16:creationId xmlns:a16="http://schemas.microsoft.com/office/drawing/2014/main" id="{9715D7F7-B44E-8F71-C3A3-A6E3673E56EA}"/>
              </a:ext>
            </a:extLst>
          </p:cNvPr>
          <p:cNvPicPr>
            <a:picLocks noChangeAspect="1"/>
          </p:cNvPicPr>
          <p:nvPr/>
        </p:nvPicPr>
        <p:blipFill>
          <a:blip r:embed="rId5"/>
          <a:stretch>
            <a:fillRect/>
          </a:stretch>
        </p:blipFill>
        <p:spPr>
          <a:xfrm>
            <a:off x="839281" y="3086100"/>
            <a:ext cx="9164703" cy="390370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Freeform 3"/>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TextBox 6"/>
          <p:cNvSpPr txBox="1"/>
          <p:nvPr/>
        </p:nvSpPr>
        <p:spPr>
          <a:xfrm>
            <a:off x="11242298" y="1087303"/>
            <a:ext cx="2031072"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HYBRID</a:t>
            </a:r>
          </a:p>
        </p:txBody>
      </p:sp>
      <p:sp>
        <p:nvSpPr>
          <p:cNvPr id="7" name="Freeform 7"/>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TextBox 8"/>
          <p:cNvSpPr txBox="1"/>
          <p:nvPr/>
        </p:nvSpPr>
        <p:spPr>
          <a:xfrm>
            <a:off x="7647693" y="1205092"/>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CASCADE</a:t>
            </a:r>
          </a:p>
        </p:txBody>
      </p:sp>
      <p:sp>
        <p:nvSpPr>
          <p:cNvPr id="9" name="Freeform 9"/>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Freeform 10"/>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Freeform 11"/>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2" name="TextBox 12"/>
          <p:cNvSpPr txBox="1"/>
          <p:nvPr/>
        </p:nvSpPr>
        <p:spPr>
          <a:xfrm>
            <a:off x="1749659" y="1087303"/>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SHARED STRUCTURES</a:t>
            </a:r>
          </a:p>
        </p:txBody>
      </p:sp>
      <p:sp>
        <p:nvSpPr>
          <p:cNvPr id="13" name="TextBox 13"/>
          <p:cNvSpPr txBox="1"/>
          <p:nvPr/>
        </p:nvSpPr>
        <p:spPr>
          <a:xfrm>
            <a:off x="4780846" y="1087303"/>
            <a:ext cx="249769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PARALLEL</a:t>
            </a:r>
          </a:p>
        </p:txBody>
      </p:sp>
      <p:sp>
        <p:nvSpPr>
          <p:cNvPr id="14" name="TextBox 14"/>
          <p:cNvSpPr txBox="1"/>
          <p:nvPr/>
        </p:nvSpPr>
        <p:spPr>
          <a:xfrm>
            <a:off x="14296169" y="1087303"/>
            <a:ext cx="2114381"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SPATIAL ATTENTION</a:t>
            </a:r>
          </a:p>
        </p:txBody>
      </p:sp>
      <p:sp>
        <p:nvSpPr>
          <p:cNvPr id="15" name="Freeform 15"/>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6" name="Freeform 16"/>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7" name="AutoShape 17"/>
          <p:cNvSpPr/>
          <p:nvPr/>
        </p:nvSpPr>
        <p:spPr>
          <a:xfrm>
            <a:off x="644860" y="865744"/>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21" name="Freeform 21"/>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22" name="TextBox 22"/>
          <p:cNvSpPr txBox="1"/>
          <p:nvPr/>
        </p:nvSpPr>
        <p:spPr>
          <a:xfrm>
            <a:off x="1028700" y="2307569"/>
            <a:ext cx="8760941" cy="615914"/>
          </a:xfrm>
          <a:prstGeom prst="rect">
            <a:avLst/>
          </a:prstGeom>
        </p:spPr>
        <p:txBody>
          <a:bodyPr lIns="0" tIns="0" rIns="0" bIns="0" rtlCol="0" anchor="t">
            <a:spAutoFit/>
          </a:bodyPr>
          <a:lstStyle/>
          <a:p>
            <a:pPr algn="l">
              <a:lnSpc>
                <a:spcPts val="4450"/>
              </a:lnSpc>
            </a:pPr>
            <a:r>
              <a:rPr lang="en-US" sz="5000" b="1" spc="-70">
                <a:solidFill>
                  <a:srgbClr val="F6FAFD"/>
                </a:solidFill>
                <a:latin typeface="Open Sauce Heavy"/>
                <a:ea typeface="Open Sauce Heavy"/>
                <a:cs typeface="Open Sauce Heavy"/>
                <a:sym typeface="Open Sauce Heavy"/>
              </a:rPr>
              <a:t>TRIPLE-HEAD</a:t>
            </a:r>
          </a:p>
        </p:txBody>
      </p:sp>
      <p:sp>
        <p:nvSpPr>
          <p:cNvPr id="40" name="TextBox 40"/>
          <p:cNvSpPr txBox="1"/>
          <p:nvPr/>
        </p:nvSpPr>
        <p:spPr>
          <a:xfrm>
            <a:off x="1028700" y="3268616"/>
            <a:ext cx="8761414" cy="4389556"/>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The neck vector is fed to a first Dense block that predicts boat type. The resulting logits are concatenated back to the neck vector and passed to a second Dense block for side prediction [5]. The same pattern repeats: side logits are appended before the final Dense block classifies direction.</a:t>
            </a:r>
          </a:p>
          <a:p>
            <a:pPr algn="l">
              <a:lnSpc>
                <a:spcPts val="3219"/>
              </a:lnSpc>
            </a:pPr>
            <a:r>
              <a:rPr lang="en-US" sz="2299" spc="-45">
                <a:solidFill>
                  <a:srgbClr val="F6FAFD"/>
                </a:solidFill>
                <a:latin typeface="Open Sauce"/>
                <a:ea typeface="Open Sauce"/>
                <a:cs typeface="Open Sauce"/>
                <a:sym typeface="Open Sauce"/>
              </a:rPr>
              <a:t>Each stage therefore receives richer input than the previous one.</a:t>
            </a:r>
          </a:p>
          <a:p>
            <a:pPr algn="l">
              <a:lnSpc>
                <a:spcPts val="3219"/>
              </a:lnSpc>
            </a:pPr>
            <a:endParaRPr lang="en-US" sz="2299" spc="-45">
              <a:solidFill>
                <a:srgbClr val="F6FAFD"/>
              </a:solidFill>
              <a:latin typeface="Open Sauce"/>
              <a:ea typeface="Open Sauce"/>
              <a:cs typeface="Open Sauce"/>
              <a:sym typeface="Open Sauce"/>
            </a:endParaRPr>
          </a:p>
          <a:p>
            <a:pPr algn="l">
              <a:lnSpc>
                <a:spcPts val="3219"/>
              </a:lnSpc>
            </a:pPr>
            <a:r>
              <a:rPr lang="en-US" sz="2299" b="1" spc="-45">
                <a:solidFill>
                  <a:srgbClr val="F6FAFD"/>
                </a:solidFill>
                <a:latin typeface="Open Sauce Bold"/>
                <a:ea typeface="Open Sauce Bold"/>
                <a:cs typeface="Open Sauce Bold"/>
                <a:sym typeface="Open Sauce Bold"/>
              </a:rPr>
              <a:t>STRUCTURAL ADVANTAGE: </a:t>
            </a:r>
          </a:p>
          <a:p>
            <a:pPr algn="l">
              <a:lnSpc>
                <a:spcPts val="3219"/>
              </a:lnSpc>
            </a:pPr>
            <a:endParaRPr lang="en-US" sz="2299" b="1" spc="-45">
              <a:solidFill>
                <a:srgbClr val="F6FAFD"/>
              </a:solidFill>
              <a:latin typeface="Open Sauce Bold"/>
              <a:ea typeface="Open Sauce Bold"/>
              <a:cs typeface="Open Sauce Bold"/>
              <a:sym typeface="Open Sauce Bold"/>
            </a:endParaRPr>
          </a:p>
          <a:p>
            <a:pPr algn="l">
              <a:lnSpc>
                <a:spcPts val="3219"/>
              </a:lnSpc>
            </a:pPr>
            <a:r>
              <a:rPr lang="en-US" sz="2299" spc="-45">
                <a:solidFill>
                  <a:srgbClr val="F6FAFD"/>
                </a:solidFill>
                <a:latin typeface="Open Sauce"/>
                <a:ea typeface="Open Sauce"/>
                <a:cs typeface="Open Sauce"/>
                <a:sym typeface="Open Sauce"/>
              </a:rPr>
              <a:t>Information flows explicitly between tasks and each head</a:t>
            </a:r>
          </a:p>
        </p:txBody>
      </p:sp>
      <p:sp>
        <p:nvSpPr>
          <p:cNvPr id="46" name="TextBox 46"/>
          <p:cNvSpPr txBox="1"/>
          <p:nvPr/>
        </p:nvSpPr>
        <p:spPr>
          <a:xfrm>
            <a:off x="1028700" y="7668967"/>
            <a:ext cx="16231073" cy="1589333"/>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conditions its prediction on all previous outputs, allowing the </a:t>
            </a:r>
          </a:p>
          <a:p>
            <a:pPr algn="l">
              <a:lnSpc>
                <a:spcPts val="3219"/>
              </a:lnSpc>
            </a:pPr>
            <a:r>
              <a:rPr lang="en-US" sz="2299" spc="-45">
                <a:solidFill>
                  <a:srgbClr val="F6FAFD"/>
                </a:solidFill>
                <a:latin typeface="Open Sauce"/>
                <a:ea typeface="Open Sauce"/>
                <a:cs typeface="Open Sauce"/>
                <a:sym typeface="Open Sauce"/>
              </a:rPr>
              <a:t>model to exploit inter-task dependencies.</a:t>
            </a:r>
          </a:p>
          <a:p>
            <a:pPr algn="l">
              <a:lnSpc>
                <a:spcPts val="3219"/>
              </a:lnSpc>
            </a:pPr>
            <a:r>
              <a:rPr lang="en-US" sz="2299" spc="-45">
                <a:solidFill>
                  <a:srgbClr val="F6FAFD"/>
                </a:solidFill>
                <a:latin typeface="Open Sauce"/>
                <a:ea typeface="Open Sauce"/>
                <a:cs typeface="Open Sauce"/>
                <a:sym typeface="Open Sauce"/>
              </a:rPr>
              <a:t>The cost is a fixed prediction order: errors in early heads propagate forward and cannot be corrected by later stages.</a:t>
            </a:r>
          </a:p>
          <a:p>
            <a:pPr algn="l">
              <a:lnSpc>
                <a:spcPts val="3219"/>
              </a:lnSpc>
            </a:pPr>
            <a:endParaRPr lang="en-US" sz="2299" spc="-45">
              <a:solidFill>
                <a:srgbClr val="F6FAFD"/>
              </a:solidFill>
              <a:latin typeface="Open Sauce"/>
              <a:ea typeface="Open Sauce"/>
              <a:cs typeface="Open Sauce"/>
              <a:sym typeface="Open Sauce"/>
            </a:endParaRPr>
          </a:p>
        </p:txBody>
      </p:sp>
      <p:sp>
        <p:nvSpPr>
          <p:cNvPr id="47" name="Freeform 47"/>
          <p:cNvSpPr/>
          <p:nvPr/>
        </p:nvSpPr>
        <p:spPr>
          <a:xfrm>
            <a:off x="1669629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pic>
        <p:nvPicPr>
          <p:cNvPr id="49" name="Immagine 48">
            <a:extLst>
              <a:ext uri="{FF2B5EF4-FFF2-40B4-BE49-F238E27FC236}">
                <a16:creationId xmlns:a16="http://schemas.microsoft.com/office/drawing/2014/main" id="{66C28517-7D05-452F-734C-FF292455E1F9}"/>
              </a:ext>
            </a:extLst>
          </p:cNvPr>
          <p:cNvPicPr>
            <a:picLocks noChangeAspect="1"/>
          </p:cNvPicPr>
          <p:nvPr/>
        </p:nvPicPr>
        <p:blipFill>
          <a:blip r:embed="rId5"/>
          <a:stretch>
            <a:fillRect/>
          </a:stretch>
        </p:blipFill>
        <p:spPr>
          <a:xfrm>
            <a:off x="10069239" y="1965519"/>
            <a:ext cx="7228161" cy="607358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Freeform 3"/>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Freeform 6"/>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Freeform 7"/>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Freeform 8"/>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9" name="Freeform 9"/>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Freeform 10"/>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AutoShape 11"/>
          <p:cNvSpPr/>
          <p:nvPr/>
        </p:nvSpPr>
        <p:spPr>
          <a:xfrm>
            <a:off x="644860" y="865744"/>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12" name="Freeform 12"/>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3" name="TextBox 13"/>
          <p:cNvSpPr txBox="1"/>
          <p:nvPr/>
        </p:nvSpPr>
        <p:spPr>
          <a:xfrm>
            <a:off x="11242298" y="1087303"/>
            <a:ext cx="2031072"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SPATIAL ATTENTION</a:t>
            </a:r>
          </a:p>
        </p:txBody>
      </p:sp>
      <p:sp>
        <p:nvSpPr>
          <p:cNvPr id="14" name="TextBox 14"/>
          <p:cNvSpPr txBox="1"/>
          <p:nvPr/>
        </p:nvSpPr>
        <p:spPr>
          <a:xfrm>
            <a:off x="7647693" y="1205092"/>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HYBRID</a:t>
            </a:r>
          </a:p>
        </p:txBody>
      </p:sp>
      <p:sp>
        <p:nvSpPr>
          <p:cNvPr id="15" name="TextBox 15"/>
          <p:cNvSpPr txBox="1"/>
          <p:nvPr/>
        </p:nvSpPr>
        <p:spPr>
          <a:xfrm>
            <a:off x="1749659" y="1087303"/>
            <a:ext cx="2331928" cy="273678"/>
          </a:xfrm>
          <a:prstGeom prst="rect">
            <a:avLst/>
          </a:prstGeom>
        </p:spPr>
        <p:txBody>
          <a:bodyPr lIns="0" tIns="0" rIns="0" bIns="0" rtlCol="0" anchor="t">
            <a:spAutoFit/>
          </a:bodyPr>
          <a:lstStyle/>
          <a:p>
            <a:pPr algn="ctr">
              <a:lnSpc>
                <a:spcPts val="2238"/>
              </a:lnSpc>
              <a:spcBef>
                <a:spcPct val="0"/>
              </a:spcBef>
            </a:pPr>
            <a:r>
              <a:rPr lang="en-US" sz="1598" spc="-103">
                <a:solidFill>
                  <a:srgbClr val="F6FAFD">
                    <a:alpha val="49804"/>
                  </a:srgbClr>
                </a:solidFill>
                <a:latin typeface="Open Sauce"/>
                <a:ea typeface="Open Sauce"/>
                <a:cs typeface="Open Sauce"/>
                <a:sym typeface="Open Sauce"/>
              </a:rPr>
              <a:t>PARALLEL</a:t>
            </a:r>
          </a:p>
        </p:txBody>
      </p:sp>
      <p:sp>
        <p:nvSpPr>
          <p:cNvPr id="16" name="TextBox 16"/>
          <p:cNvSpPr txBox="1"/>
          <p:nvPr/>
        </p:nvSpPr>
        <p:spPr>
          <a:xfrm>
            <a:off x="4780846" y="1087303"/>
            <a:ext cx="249769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CASCADE</a:t>
            </a:r>
          </a:p>
        </p:txBody>
      </p:sp>
      <p:sp>
        <p:nvSpPr>
          <p:cNvPr id="17" name="TextBox 17"/>
          <p:cNvSpPr txBox="1"/>
          <p:nvPr/>
        </p:nvSpPr>
        <p:spPr>
          <a:xfrm>
            <a:off x="14296169" y="1087303"/>
            <a:ext cx="2114381"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EVALUATION</a:t>
            </a:r>
          </a:p>
        </p:txBody>
      </p:sp>
      <p:sp>
        <p:nvSpPr>
          <p:cNvPr id="21" name="TextBox 21"/>
          <p:cNvSpPr txBox="1"/>
          <p:nvPr/>
        </p:nvSpPr>
        <p:spPr>
          <a:xfrm>
            <a:off x="1028227" y="2307569"/>
            <a:ext cx="7453976" cy="615914"/>
          </a:xfrm>
          <a:prstGeom prst="rect">
            <a:avLst/>
          </a:prstGeom>
        </p:spPr>
        <p:txBody>
          <a:bodyPr lIns="0" tIns="0" rIns="0" bIns="0" rtlCol="0" anchor="t">
            <a:spAutoFit/>
          </a:bodyPr>
          <a:lstStyle/>
          <a:p>
            <a:pPr algn="l">
              <a:lnSpc>
                <a:spcPts val="4450"/>
              </a:lnSpc>
            </a:pPr>
            <a:r>
              <a:rPr lang="en-US" sz="5000" b="1" spc="-70">
                <a:solidFill>
                  <a:srgbClr val="F6FAFD"/>
                </a:solidFill>
                <a:latin typeface="Open Sauce Heavy"/>
                <a:ea typeface="Open Sauce Heavy"/>
                <a:cs typeface="Open Sauce Heavy"/>
                <a:sym typeface="Open Sauce Heavy"/>
              </a:rPr>
              <a:t>PARALLEL-CASCADE</a:t>
            </a:r>
          </a:p>
        </p:txBody>
      </p:sp>
      <p:sp>
        <p:nvSpPr>
          <p:cNvPr id="33" name="TextBox 33"/>
          <p:cNvSpPr txBox="1"/>
          <p:nvPr/>
        </p:nvSpPr>
        <p:spPr>
          <a:xfrm>
            <a:off x="1028700" y="3268616"/>
            <a:ext cx="7427869" cy="3989525"/>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The neck vector feeds a first Dense block that predicts boat type. Those logits are concatenated to the neck vector and passed to a second Dense block for direction prediction. </a:t>
            </a:r>
          </a:p>
          <a:p>
            <a:pPr algn="l">
              <a:lnSpc>
                <a:spcPts val="3219"/>
              </a:lnSpc>
            </a:pPr>
            <a:r>
              <a:rPr lang="en-US" sz="2299" spc="-45">
                <a:solidFill>
                  <a:srgbClr val="F6FAFD"/>
                </a:solidFill>
                <a:latin typeface="Open Sauce"/>
                <a:ea typeface="Open Sauce"/>
                <a:cs typeface="Open Sauce"/>
                <a:sym typeface="Open Sauce"/>
              </a:rPr>
              <a:t>Side, however, branches directly from the original neck vector through its own independent Dense block, it receives no information from the two preceding predictions.</a:t>
            </a:r>
          </a:p>
          <a:p>
            <a:pPr algn="l">
              <a:lnSpc>
                <a:spcPts val="3219"/>
              </a:lnSpc>
            </a:pPr>
            <a:endParaRPr lang="en-US" sz="2299" spc="-45">
              <a:solidFill>
                <a:srgbClr val="F6FAFD"/>
              </a:solidFill>
              <a:latin typeface="Open Sauce"/>
              <a:ea typeface="Open Sauce"/>
              <a:cs typeface="Open Sauce"/>
              <a:sym typeface="Open Sauce"/>
            </a:endParaRPr>
          </a:p>
          <a:p>
            <a:pPr algn="l">
              <a:lnSpc>
                <a:spcPts val="3219"/>
              </a:lnSpc>
            </a:pPr>
            <a:r>
              <a:rPr lang="en-US" sz="2299" b="1" spc="-45">
                <a:solidFill>
                  <a:srgbClr val="F6FAFD"/>
                </a:solidFill>
                <a:latin typeface="Open Sauce Bold"/>
                <a:ea typeface="Open Sauce Bold"/>
                <a:cs typeface="Open Sauce Bold"/>
                <a:sym typeface="Open Sauce Bold"/>
              </a:rPr>
              <a:t>STRUCTURAL RATIONALE: </a:t>
            </a:r>
          </a:p>
        </p:txBody>
      </p:sp>
      <p:sp>
        <p:nvSpPr>
          <p:cNvPr id="34" name="TextBox 34"/>
          <p:cNvSpPr txBox="1"/>
          <p:nvPr/>
        </p:nvSpPr>
        <p:spPr>
          <a:xfrm>
            <a:off x="1028700" y="7668967"/>
            <a:ext cx="16231073" cy="1589333"/>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This design follows a visual logic grounded in the nature of the tasks. Boat type influences how a vessel appears at a given point of sail so knowing the boat type provides genuinely useful context for direction prediction. Side, on the other hand, is deliberately kept independent: mirroring an image horizontally does not change the point of sail, meaning tack and direction carry no directional dependency and cascading side into direction would introduce noise.</a:t>
            </a:r>
          </a:p>
        </p:txBody>
      </p:sp>
      <p:sp>
        <p:nvSpPr>
          <p:cNvPr id="44" name="Freeform 44"/>
          <p:cNvSpPr/>
          <p:nvPr/>
        </p:nvSpPr>
        <p:spPr>
          <a:xfrm>
            <a:off x="16220654"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pic>
        <p:nvPicPr>
          <p:cNvPr id="46" name="Immagine 45">
            <a:extLst>
              <a:ext uri="{FF2B5EF4-FFF2-40B4-BE49-F238E27FC236}">
                <a16:creationId xmlns:a16="http://schemas.microsoft.com/office/drawing/2014/main" id="{47211344-BFF2-9B17-91E4-8C5457AB52D1}"/>
              </a:ext>
            </a:extLst>
          </p:cNvPr>
          <p:cNvPicPr>
            <a:picLocks noChangeAspect="1"/>
          </p:cNvPicPr>
          <p:nvPr/>
        </p:nvPicPr>
        <p:blipFill>
          <a:blip r:embed="rId5"/>
          <a:stretch>
            <a:fillRect/>
          </a:stretch>
        </p:blipFill>
        <p:spPr>
          <a:xfrm>
            <a:off x="8544563" y="1866900"/>
            <a:ext cx="9108737" cy="566739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1527695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Freeform 3"/>
          <p:cNvSpPr/>
          <p:nvPr/>
        </p:nvSpPr>
        <p:spPr>
          <a:xfrm>
            <a:off x="1216288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71643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933279"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Freeform 6"/>
          <p:cNvSpPr/>
          <p:nvPr/>
        </p:nvSpPr>
        <p:spPr>
          <a:xfrm>
            <a:off x="593474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Freeform 7"/>
          <p:cNvSpPr/>
          <p:nvPr/>
        </p:nvSpPr>
        <p:spPr>
          <a:xfrm>
            <a:off x="2820676"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Freeform 8"/>
          <p:cNvSpPr/>
          <p:nvPr/>
        </p:nvSpPr>
        <p:spPr>
          <a:xfrm>
            <a:off x="8884341" y="606086"/>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9" name="Freeform 9"/>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Freeform 10"/>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AutoShape 11"/>
          <p:cNvSpPr/>
          <p:nvPr/>
        </p:nvSpPr>
        <p:spPr>
          <a:xfrm>
            <a:off x="644860" y="865744"/>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12" name="Freeform 12"/>
          <p:cNvSpPr/>
          <p:nvPr/>
        </p:nvSpPr>
        <p:spPr>
          <a:xfrm>
            <a:off x="9049052"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3" name="TextBox 13"/>
          <p:cNvSpPr txBox="1"/>
          <p:nvPr/>
        </p:nvSpPr>
        <p:spPr>
          <a:xfrm>
            <a:off x="11242298" y="1087303"/>
            <a:ext cx="2031072"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EVALUATION</a:t>
            </a:r>
          </a:p>
        </p:txBody>
      </p:sp>
      <p:sp>
        <p:nvSpPr>
          <p:cNvPr id="14" name="TextBox 14"/>
          <p:cNvSpPr txBox="1"/>
          <p:nvPr/>
        </p:nvSpPr>
        <p:spPr>
          <a:xfrm>
            <a:off x="7647693" y="1205092"/>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SPATIAL ATTENTION</a:t>
            </a:r>
          </a:p>
        </p:txBody>
      </p:sp>
      <p:sp>
        <p:nvSpPr>
          <p:cNvPr id="15" name="TextBox 15"/>
          <p:cNvSpPr txBox="1"/>
          <p:nvPr/>
        </p:nvSpPr>
        <p:spPr>
          <a:xfrm>
            <a:off x="1749659" y="1087303"/>
            <a:ext cx="2331928" cy="273678"/>
          </a:xfrm>
          <a:prstGeom prst="rect">
            <a:avLst/>
          </a:prstGeom>
        </p:spPr>
        <p:txBody>
          <a:bodyPr lIns="0" tIns="0" rIns="0" bIns="0" rtlCol="0" anchor="t">
            <a:spAutoFit/>
          </a:bodyPr>
          <a:lstStyle/>
          <a:p>
            <a:pPr algn="ctr">
              <a:lnSpc>
                <a:spcPts val="2238"/>
              </a:lnSpc>
              <a:spcBef>
                <a:spcPct val="0"/>
              </a:spcBef>
            </a:pPr>
            <a:r>
              <a:rPr lang="en-US" sz="1598" spc="-103">
                <a:solidFill>
                  <a:srgbClr val="F6FAFD">
                    <a:alpha val="49804"/>
                  </a:srgbClr>
                </a:solidFill>
                <a:latin typeface="Open Sauce"/>
                <a:ea typeface="Open Sauce"/>
                <a:cs typeface="Open Sauce"/>
                <a:sym typeface="Open Sauce"/>
              </a:rPr>
              <a:t>CASCADE</a:t>
            </a:r>
          </a:p>
        </p:txBody>
      </p:sp>
      <p:sp>
        <p:nvSpPr>
          <p:cNvPr id="16" name="TextBox 16"/>
          <p:cNvSpPr txBox="1"/>
          <p:nvPr/>
        </p:nvSpPr>
        <p:spPr>
          <a:xfrm>
            <a:off x="4780846" y="1087303"/>
            <a:ext cx="249769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HYBRID</a:t>
            </a:r>
          </a:p>
        </p:txBody>
      </p:sp>
      <p:sp>
        <p:nvSpPr>
          <p:cNvPr id="17" name="TextBox 17"/>
          <p:cNvSpPr txBox="1"/>
          <p:nvPr/>
        </p:nvSpPr>
        <p:spPr>
          <a:xfrm>
            <a:off x="14296169" y="1087303"/>
            <a:ext cx="2114381"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FINE TUNING</a:t>
            </a:r>
          </a:p>
        </p:txBody>
      </p:sp>
      <p:sp>
        <p:nvSpPr>
          <p:cNvPr id="18" name="TextBox 18"/>
          <p:cNvSpPr txBox="1"/>
          <p:nvPr/>
        </p:nvSpPr>
        <p:spPr>
          <a:xfrm>
            <a:off x="1028227" y="2307569"/>
            <a:ext cx="7453976" cy="615914"/>
          </a:xfrm>
          <a:prstGeom prst="rect">
            <a:avLst/>
          </a:prstGeom>
        </p:spPr>
        <p:txBody>
          <a:bodyPr lIns="0" tIns="0" rIns="0" bIns="0" rtlCol="0" anchor="t">
            <a:spAutoFit/>
          </a:bodyPr>
          <a:lstStyle/>
          <a:p>
            <a:pPr algn="l">
              <a:lnSpc>
                <a:spcPts val="4450"/>
              </a:lnSpc>
            </a:pPr>
            <a:r>
              <a:rPr lang="en-US" sz="5000" b="1" spc="-70">
                <a:solidFill>
                  <a:srgbClr val="F6FAFD"/>
                </a:solidFill>
                <a:latin typeface="Open Sauce Heavy"/>
                <a:ea typeface="Open Sauce Heavy"/>
                <a:cs typeface="Open Sauce Heavy"/>
                <a:sym typeface="Open Sauce Heavy"/>
              </a:rPr>
              <a:t>HYBRID + ATTENTION</a:t>
            </a:r>
          </a:p>
        </p:txBody>
      </p:sp>
      <p:sp>
        <p:nvSpPr>
          <p:cNvPr id="19" name="TextBox 19"/>
          <p:cNvSpPr txBox="1"/>
          <p:nvPr/>
        </p:nvSpPr>
        <p:spPr>
          <a:xfrm>
            <a:off x="1028700" y="3268616"/>
            <a:ext cx="7427869" cy="3989525"/>
          </a:xfrm>
          <a:prstGeom prst="rect">
            <a:avLst/>
          </a:prstGeom>
        </p:spPr>
        <p:txBody>
          <a:bodyPr lIns="0" tIns="0" rIns="0" bIns="0" rtlCol="0" anchor="t">
            <a:spAutoFit/>
          </a:bodyPr>
          <a:lstStyle/>
          <a:p>
            <a:pPr algn="l">
              <a:lnSpc>
                <a:spcPts val="3219"/>
              </a:lnSpc>
            </a:pPr>
            <a:r>
              <a:rPr lang="en-US" sz="2299" spc="-45" dirty="0">
                <a:solidFill>
                  <a:srgbClr val="F6FAFD"/>
                </a:solidFill>
                <a:latin typeface="Open Sauce"/>
                <a:ea typeface="Open Sauce"/>
                <a:cs typeface="Open Sauce"/>
                <a:sym typeface="Open Sauce"/>
              </a:rPr>
              <a:t>The neck vector feeds boat type and direction following the same cascade architecture as </a:t>
            </a:r>
            <a:r>
              <a:rPr lang="en-US" sz="2299" spc="-45" dirty="0" err="1">
                <a:solidFill>
                  <a:srgbClr val="F6FAFD"/>
                </a:solidFill>
                <a:latin typeface="Open Sauce"/>
                <a:ea typeface="Open Sauce"/>
                <a:cs typeface="Open Sauce"/>
                <a:sym typeface="Open Sauce"/>
              </a:rPr>
              <a:t>te</a:t>
            </a:r>
            <a:r>
              <a:rPr lang="en-US" sz="2299" spc="-45" dirty="0">
                <a:solidFill>
                  <a:srgbClr val="F6FAFD"/>
                </a:solidFill>
                <a:latin typeface="Open Sauce"/>
                <a:ea typeface="Open Sauce"/>
                <a:cs typeface="Open Sauce"/>
                <a:sym typeface="Open Sauce"/>
              </a:rPr>
              <a:t> previous model.</a:t>
            </a:r>
          </a:p>
          <a:p>
            <a:pPr algn="l">
              <a:lnSpc>
                <a:spcPts val="3219"/>
              </a:lnSpc>
            </a:pPr>
            <a:r>
              <a:rPr lang="en-US" sz="2299" spc="-45" dirty="0">
                <a:solidFill>
                  <a:srgbClr val="F6FAFD"/>
                </a:solidFill>
                <a:latin typeface="Open Sauce"/>
                <a:ea typeface="Open Sauce"/>
                <a:cs typeface="Open Sauce"/>
                <a:sym typeface="Open Sauce"/>
              </a:rPr>
              <a:t>The side head, however, bypasses the neck entirely, it reads directly from the raw backbone feature map through a dedicated CBAM-lite [6] spatial attention block, which is then pooled into a vector before its Dense head.</a:t>
            </a:r>
          </a:p>
          <a:p>
            <a:pPr algn="l">
              <a:lnSpc>
                <a:spcPts val="3219"/>
              </a:lnSpc>
            </a:pPr>
            <a:endParaRPr lang="en-US" sz="2299" spc="-45" dirty="0">
              <a:solidFill>
                <a:srgbClr val="F6FAFD"/>
              </a:solidFill>
              <a:latin typeface="Open Sauce"/>
              <a:ea typeface="Open Sauce"/>
              <a:cs typeface="Open Sauce"/>
              <a:sym typeface="Open Sauce"/>
            </a:endParaRPr>
          </a:p>
          <a:p>
            <a:pPr algn="l">
              <a:lnSpc>
                <a:spcPts val="3219"/>
              </a:lnSpc>
            </a:pPr>
            <a:r>
              <a:rPr lang="en-US" sz="2299" b="1" spc="-45" dirty="0">
                <a:solidFill>
                  <a:srgbClr val="F6FAFD"/>
                </a:solidFill>
                <a:latin typeface="Open Sauce Bold"/>
                <a:ea typeface="Open Sauce Bold"/>
                <a:cs typeface="Open Sauce Bold"/>
                <a:sym typeface="Open Sauce Bold"/>
              </a:rPr>
              <a:t>STRUCTURAL RATIONALE: </a:t>
            </a:r>
          </a:p>
        </p:txBody>
      </p:sp>
      <p:sp>
        <p:nvSpPr>
          <p:cNvPr id="27" name="TextBox 27"/>
          <p:cNvSpPr txBox="1"/>
          <p:nvPr/>
        </p:nvSpPr>
        <p:spPr>
          <a:xfrm>
            <a:off x="1028700" y="7668967"/>
            <a:ext cx="16231073" cy="1589333"/>
          </a:xfrm>
          <a:prstGeom prst="rect">
            <a:avLst/>
          </a:prstGeom>
        </p:spPr>
        <p:txBody>
          <a:bodyPr lIns="0" tIns="0" rIns="0" bIns="0" rtlCol="0" anchor="t">
            <a:spAutoFit/>
          </a:bodyPr>
          <a:lstStyle/>
          <a:p>
            <a:pPr algn="l">
              <a:lnSpc>
                <a:spcPts val="3219"/>
              </a:lnSpc>
            </a:pPr>
            <a:r>
              <a:rPr lang="en-US" sz="2299" spc="-45" dirty="0">
                <a:solidFill>
                  <a:srgbClr val="F6FAFD"/>
                </a:solidFill>
                <a:latin typeface="Open Sauce"/>
                <a:ea typeface="Open Sauce"/>
                <a:cs typeface="Open Sauce"/>
                <a:sym typeface="Open Sauce"/>
              </a:rPr>
              <a:t>Port vs starboard requires knowing where in the frame the sail is, not just what features are present globally. The neck's Global Average Pooling discards that spatial information before the side head ever sees it. The CBAM-lite block intercepts the 7×7 feature map before pooling, first gating the 1408 channels to retain only tack-relevant ones, then weighting the spatial grid to amplify the left/right regions where the sail signal lives. </a:t>
            </a:r>
          </a:p>
        </p:txBody>
      </p:sp>
      <p:pic>
        <p:nvPicPr>
          <p:cNvPr id="48" name="Immagine 47">
            <a:extLst>
              <a:ext uri="{FF2B5EF4-FFF2-40B4-BE49-F238E27FC236}">
                <a16:creationId xmlns:a16="http://schemas.microsoft.com/office/drawing/2014/main" id="{6AB0EAE8-FE30-31E9-1F6D-4734553AD669}"/>
              </a:ext>
            </a:extLst>
          </p:cNvPr>
          <p:cNvPicPr>
            <a:picLocks noChangeAspect="1"/>
          </p:cNvPicPr>
          <p:nvPr/>
        </p:nvPicPr>
        <p:blipFill>
          <a:blip r:embed="rId5"/>
          <a:srcRect r="1658"/>
          <a:stretch>
            <a:fillRect/>
          </a:stretch>
        </p:blipFill>
        <p:spPr>
          <a:xfrm>
            <a:off x="8610600" y="1943100"/>
            <a:ext cx="8790570" cy="556408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933279"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Freeform 3"/>
          <p:cNvSpPr/>
          <p:nvPr/>
        </p:nvSpPr>
        <p:spPr>
          <a:xfrm>
            <a:off x="2820676"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4" name="Freeform 4"/>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Freeform 5"/>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6" name="AutoShape 6"/>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7" name="Freeform 7"/>
          <p:cNvSpPr/>
          <p:nvPr/>
        </p:nvSpPr>
        <p:spPr>
          <a:xfrm>
            <a:off x="16487234"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Freeform 8"/>
          <p:cNvSpPr/>
          <p:nvPr/>
        </p:nvSpPr>
        <p:spPr>
          <a:xfrm>
            <a:off x="4061863"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9" name="Freeform 9"/>
          <p:cNvSpPr/>
          <p:nvPr/>
        </p:nvSpPr>
        <p:spPr>
          <a:xfrm>
            <a:off x="10309727"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Freeform 10"/>
          <p:cNvSpPr/>
          <p:nvPr/>
        </p:nvSpPr>
        <p:spPr>
          <a:xfrm>
            <a:off x="7195657"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Freeform 11"/>
          <p:cNvSpPr/>
          <p:nvPr/>
        </p:nvSpPr>
        <p:spPr>
          <a:xfrm>
            <a:off x="10145016" y="607508"/>
            <a:ext cx="519317" cy="519317"/>
          </a:xfrm>
          <a:custGeom>
            <a:avLst/>
            <a:gdLst/>
            <a:ahLst/>
            <a:cxnLst/>
            <a:rect l="l" t="t" r="r" b="b"/>
            <a:pathLst>
              <a:path w="519317" h="519317">
                <a:moveTo>
                  <a:pt x="0" y="0"/>
                </a:moveTo>
                <a:lnTo>
                  <a:pt x="519318" y="0"/>
                </a:lnTo>
                <a:lnTo>
                  <a:pt x="519318"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2" name="Freeform 12"/>
          <p:cNvSpPr/>
          <p:nvPr/>
        </p:nvSpPr>
        <p:spPr>
          <a:xfrm>
            <a:off x="13398481"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grpSp>
        <p:nvGrpSpPr>
          <p:cNvPr id="13" name="Group 13"/>
          <p:cNvGrpSpPr/>
          <p:nvPr/>
        </p:nvGrpSpPr>
        <p:grpSpPr>
          <a:xfrm>
            <a:off x="12431188" y="3604727"/>
            <a:ext cx="4828112" cy="3170103"/>
            <a:chOff x="0" y="0"/>
            <a:chExt cx="1271601" cy="834924"/>
          </a:xfrm>
        </p:grpSpPr>
        <p:sp>
          <p:nvSpPr>
            <p:cNvPr id="14" name="Freeform 14"/>
            <p:cNvSpPr/>
            <p:nvPr/>
          </p:nvSpPr>
          <p:spPr>
            <a:xfrm>
              <a:off x="0" y="0"/>
              <a:ext cx="1271601" cy="834924"/>
            </a:xfrm>
            <a:custGeom>
              <a:avLst/>
              <a:gdLst/>
              <a:ahLst/>
              <a:cxnLst/>
              <a:rect l="l" t="t" r="r" b="b"/>
              <a:pathLst>
                <a:path w="1271601" h="834924">
                  <a:moveTo>
                    <a:pt x="56123" y="0"/>
                  </a:moveTo>
                  <a:lnTo>
                    <a:pt x="1215479" y="0"/>
                  </a:lnTo>
                  <a:cubicBezTo>
                    <a:pt x="1246474" y="0"/>
                    <a:pt x="1271601" y="25127"/>
                    <a:pt x="1271601" y="56123"/>
                  </a:cubicBezTo>
                  <a:lnTo>
                    <a:pt x="1271601" y="778801"/>
                  </a:lnTo>
                  <a:cubicBezTo>
                    <a:pt x="1271601" y="793686"/>
                    <a:pt x="1265688" y="807961"/>
                    <a:pt x="1255163" y="818486"/>
                  </a:cubicBezTo>
                  <a:cubicBezTo>
                    <a:pt x="1244638" y="829011"/>
                    <a:pt x="1230363" y="834924"/>
                    <a:pt x="1215479" y="834924"/>
                  </a:cubicBezTo>
                  <a:lnTo>
                    <a:pt x="56123" y="834924"/>
                  </a:lnTo>
                  <a:cubicBezTo>
                    <a:pt x="41238" y="834924"/>
                    <a:pt x="26963" y="829011"/>
                    <a:pt x="16438" y="818486"/>
                  </a:cubicBezTo>
                  <a:cubicBezTo>
                    <a:pt x="5913" y="807961"/>
                    <a:pt x="0" y="793686"/>
                    <a:pt x="0" y="778801"/>
                  </a:cubicBezTo>
                  <a:lnTo>
                    <a:pt x="0" y="56123"/>
                  </a:lnTo>
                  <a:cubicBezTo>
                    <a:pt x="0" y="41238"/>
                    <a:pt x="5913" y="26963"/>
                    <a:pt x="16438" y="16438"/>
                  </a:cubicBezTo>
                  <a:cubicBezTo>
                    <a:pt x="26963" y="5913"/>
                    <a:pt x="41238" y="0"/>
                    <a:pt x="56123" y="0"/>
                  </a:cubicBezTo>
                  <a:close/>
                </a:path>
              </a:pathLst>
            </a:custGeom>
            <a:ln w="19050" cap="rnd">
              <a:solidFill>
                <a:srgbClr val="F6FAFD"/>
              </a:solidFill>
              <a:prstDash val="solid"/>
              <a:round/>
            </a:ln>
          </p:spPr>
          <p:txBody>
            <a:bodyPr/>
            <a:lstStyle/>
            <a:p>
              <a:endParaRPr lang="it-IT"/>
            </a:p>
          </p:txBody>
        </p:sp>
        <p:sp>
          <p:nvSpPr>
            <p:cNvPr id="15" name="TextBox 15"/>
            <p:cNvSpPr txBox="1"/>
            <p:nvPr/>
          </p:nvSpPr>
          <p:spPr>
            <a:xfrm>
              <a:off x="0" y="-38100"/>
              <a:ext cx="1271601" cy="873024"/>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2685882" y="3886879"/>
            <a:ext cx="901808" cy="2577466"/>
          </a:xfrm>
          <a:prstGeom prst="rect">
            <a:avLst/>
          </a:prstGeom>
        </p:spPr>
        <p:txBody>
          <a:bodyPr lIns="0" tIns="0" rIns="0" bIns="0" rtlCol="0" anchor="t">
            <a:spAutoFit/>
          </a:bodyPr>
          <a:lstStyle/>
          <a:p>
            <a:pPr algn="ctr">
              <a:lnSpc>
                <a:spcPts val="4139"/>
              </a:lnSpc>
            </a:pPr>
            <a:r>
              <a:rPr lang="en-US" sz="2299" b="1" dirty="0">
                <a:solidFill>
                  <a:srgbClr val="FFFFFF"/>
                </a:solidFill>
                <a:latin typeface="Canva Sans Bold"/>
                <a:ea typeface="Canva Sans Bold"/>
                <a:cs typeface="Canva Sans Bold"/>
                <a:sym typeface="Canva Sans Bold"/>
              </a:rPr>
              <a:t>Model</a:t>
            </a:r>
          </a:p>
          <a:p>
            <a:pPr algn="ctr">
              <a:lnSpc>
                <a:spcPts val="4139"/>
              </a:lnSpc>
            </a:pPr>
            <a:r>
              <a:rPr lang="en-US" sz="2299" b="1" dirty="0">
                <a:solidFill>
                  <a:srgbClr val="FFFFFF"/>
                </a:solidFill>
                <a:latin typeface="Canva Sans Bold"/>
                <a:ea typeface="Canva Sans Bold"/>
                <a:cs typeface="Canva Sans Bold"/>
                <a:sym typeface="Canva Sans Bold"/>
              </a:rPr>
              <a:t>A</a:t>
            </a:r>
          </a:p>
          <a:p>
            <a:pPr algn="ctr">
              <a:lnSpc>
                <a:spcPts val="4139"/>
              </a:lnSpc>
            </a:pPr>
            <a:r>
              <a:rPr lang="en-US" sz="2299" b="1" dirty="0">
                <a:solidFill>
                  <a:srgbClr val="FFFFFF"/>
                </a:solidFill>
                <a:latin typeface="Canva Sans Bold"/>
                <a:ea typeface="Canva Sans Bold"/>
                <a:cs typeface="Canva Sans Bold"/>
                <a:sym typeface="Canva Sans Bold"/>
              </a:rPr>
              <a:t>B</a:t>
            </a:r>
          </a:p>
          <a:p>
            <a:pPr algn="ctr">
              <a:lnSpc>
                <a:spcPts val="4139"/>
              </a:lnSpc>
            </a:pPr>
            <a:r>
              <a:rPr lang="en-US" sz="2299" b="1" dirty="0">
                <a:solidFill>
                  <a:srgbClr val="FFFFFF"/>
                </a:solidFill>
                <a:latin typeface="Canva Sans Bold"/>
                <a:ea typeface="Canva Sans Bold"/>
                <a:cs typeface="Canva Sans Bold"/>
                <a:sym typeface="Canva Sans Bold"/>
              </a:rPr>
              <a:t>C</a:t>
            </a:r>
          </a:p>
          <a:p>
            <a:pPr algn="ctr">
              <a:lnSpc>
                <a:spcPts val="4139"/>
              </a:lnSpc>
            </a:pPr>
            <a:r>
              <a:rPr lang="en-US" sz="2299" b="1" dirty="0">
                <a:solidFill>
                  <a:srgbClr val="FFFFFF"/>
                </a:solidFill>
                <a:latin typeface="Canva Sans Bold"/>
                <a:ea typeface="Canva Sans Bold"/>
                <a:cs typeface="Canva Sans Bold"/>
                <a:sym typeface="Canva Sans Bold"/>
              </a:rPr>
              <a:t>D</a:t>
            </a:r>
          </a:p>
        </p:txBody>
      </p:sp>
      <p:sp>
        <p:nvSpPr>
          <p:cNvPr id="17" name="TextBox 17"/>
          <p:cNvSpPr txBox="1"/>
          <p:nvPr/>
        </p:nvSpPr>
        <p:spPr>
          <a:xfrm>
            <a:off x="13788581" y="3863989"/>
            <a:ext cx="1013586" cy="3101341"/>
          </a:xfrm>
          <a:prstGeom prst="rect">
            <a:avLst/>
          </a:prstGeom>
        </p:spPr>
        <p:txBody>
          <a:bodyPr lIns="0" tIns="0" rIns="0" bIns="0" rtlCol="0" anchor="t">
            <a:spAutoFit/>
          </a:bodyPr>
          <a:lstStyle/>
          <a:p>
            <a:pPr algn="ctr">
              <a:lnSpc>
                <a:spcPts val="4139"/>
              </a:lnSpc>
            </a:pPr>
            <a:r>
              <a:rPr lang="en-US" sz="2299" b="1">
                <a:solidFill>
                  <a:srgbClr val="FFFFFF"/>
                </a:solidFill>
                <a:latin typeface="Canva Sans Bold"/>
                <a:ea typeface="Canva Sans Bold"/>
                <a:cs typeface="Canva Sans Bold"/>
                <a:sym typeface="Canva Sans Bold"/>
              </a:rPr>
              <a:t>Boat</a:t>
            </a:r>
          </a:p>
          <a:p>
            <a:pPr algn="ctr">
              <a:lnSpc>
                <a:spcPts val="4139"/>
              </a:lnSpc>
            </a:pPr>
            <a:r>
              <a:rPr lang="en-US" sz="2299">
                <a:solidFill>
                  <a:srgbClr val="FFFFFF"/>
                </a:solidFill>
                <a:latin typeface="Canva Sans"/>
                <a:ea typeface="Canva Sans"/>
                <a:cs typeface="Canva Sans"/>
                <a:sym typeface="Canva Sans"/>
              </a:rPr>
              <a:t>0.999</a:t>
            </a:r>
          </a:p>
          <a:p>
            <a:pPr algn="ctr">
              <a:lnSpc>
                <a:spcPts val="4139"/>
              </a:lnSpc>
            </a:pPr>
            <a:r>
              <a:rPr lang="en-US" sz="2299">
                <a:solidFill>
                  <a:srgbClr val="FFFFFF"/>
                </a:solidFill>
                <a:latin typeface="Canva Sans"/>
                <a:ea typeface="Canva Sans"/>
                <a:cs typeface="Canva Sans"/>
                <a:sym typeface="Canva Sans"/>
              </a:rPr>
              <a:t>1.000</a:t>
            </a:r>
          </a:p>
          <a:p>
            <a:pPr algn="ctr">
              <a:lnSpc>
                <a:spcPts val="4139"/>
              </a:lnSpc>
            </a:pPr>
            <a:r>
              <a:rPr lang="en-US" sz="2299">
                <a:solidFill>
                  <a:srgbClr val="FFFFFF"/>
                </a:solidFill>
                <a:latin typeface="Canva Sans"/>
                <a:ea typeface="Canva Sans"/>
                <a:cs typeface="Canva Sans"/>
                <a:sym typeface="Canva Sans"/>
              </a:rPr>
              <a:t>1.000</a:t>
            </a:r>
          </a:p>
          <a:p>
            <a:pPr algn="ctr">
              <a:lnSpc>
                <a:spcPts val="4139"/>
              </a:lnSpc>
            </a:pPr>
            <a:r>
              <a:rPr lang="en-US" sz="2299">
                <a:solidFill>
                  <a:srgbClr val="FFFFFF"/>
                </a:solidFill>
                <a:latin typeface="Canva Sans"/>
                <a:ea typeface="Canva Sans"/>
                <a:cs typeface="Canva Sans"/>
                <a:sym typeface="Canva Sans"/>
              </a:rPr>
              <a:t>0.999</a:t>
            </a:r>
          </a:p>
          <a:p>
            <a:pPr algn="ctr">
              <a:lnSpc>
                <a:spcPts val="4139"/>
              </a:lnSpc>
            </a:pPr>
            <a:r>
              <a:rPr lang="en-US" sz="2299">
                <a:solidFill>
                  <a:srgbClr val="FFFFFF"/>
                </a:solidFill>
                <a:latin typeface="Canva Sans"/>
                <a:ea typeface="Canva Sans"/>
                <a:cs typeface="Canva Sans"/>
                <a:sym typeface="Canva Sans"/>
              </a:rPr>
              <a:t> </a:t>
            </a:r>
          </a:p>
        </p:txBody>
      </p:sp>
      <p:sp>
        <p:nvSpPr>
          <p:cNvPr id="18" name="TextBox 18"/>
          <p:cNvSpPr txBox="1"/>
          <p:nvPr/>
        </p:nvSpPr>
        <p:spPr>
          <a:xfrm>
            <a:off x="15011717" y="3863989"/>
            <a:ext cx="957160" cy="3101341"/>
          </a:xfrm>
          <a:prstGeom prst="rect">
            <a:avLst/>
          </a:prstGeom>
        </p:spPr>
        <p:txBody>
          <a:bodyPr lIns="0" tIns="0" rIns="0" bIns="0" rtlCol="0" anchor="t">
            <a:spAutoFit/>
          </a:bodyPr>
          <a:lstStyle/>
          <a:p>
            <a:pPr algn="ctr">
              <a:lnSpc>
                <a:spcPts val="4139"/>
              </a:lnSpc>
            </a:pPr>
            <a:r>
              <a:rPr lang="en-US" sz="2299" b="1">
                <a:solidFill>
                  <a:srgbClr val="FFFFFF"/>
                </a:solidFill>
                <a:latin typeface="Canva Sans Bold"/>
                <a:ea typeface="Canva Sans Bold"/>
                <a:cs typeface="Canva Sans Bold"/>
                <a:sym typeface="Canva Sans Bold"/>
              </a:rPr>
              <a:t>Side</a:t>
            </a:r>
          </a:p>
          <a:p>
            <a:pPr algn="ctr">
              <a:lnSpc>
                <a:spcPts val="4139"/>
              </a:lnSpc>
            </a:pPr>
            <a:r>
              <a:rPr lang="en-US" sz="2299">
                <a:solidFill>
                  <a:srgbClr val="FFFFFF"/>
                </a:solidFill>
                <a:latin typeface="Canva Sans"/>
                <a:ea typeface="Canva Sans"/>
                <a:cs typeface="Canva Sans"/>
                <a:sym typeface="Canva Sans"/>
              </a:rPr>
              <a:t>0.703</a:t>
            </a:r>
          </a:p>
          <a:p>
            <a:pPr algn="ctr">
              <a:lnSpc>
                <a:spcPts val="4139"/>
              </a:lnSpc>
            </a:pPr>
            <a:r>
              <a:rPr lang="en-US" sz="2299">
                <a:solidFill>
                  <a:srgbClr val="FFFFFF"/>
                </a:solidFill>
                <a:latin typeface="Canva Sans"/>
                <a:ea typeface="Canva Sans"/>
                <a:cs typeface="Canva Sans"/>
                <a:sym typeface="Canva Sans"/>
              </a:rPr>
              <a:t>0.714</a:t>
            </a:r>
          </a:p>
          <a:p>
            <a:pPr algn="ctr">
              <a:lnSpc>
                <a:spcPts val="4139"/>
              </a:lnSpc>
            </a:pPr>
            <a:r>
              <a:rPr lang="en-US" sz="2299">
                <a:solidFill>
                  <a:srgbClr val="FFFFFF"/>
                </a:solidFill>
                <a:latin typeface="Canva Sans"/>
                <a:ea typeface="Canva Sans"/>
                <a:cs typeface="Canva Sans"/>
                <a:sym typeface="Canva Sans"/>
              </a:rPr>
              <a:t>0.686</a:t>
            </a:r>
          </a:p>
          <a:p>
            <a:pPr algn="ctr">
              <a:lnSpc>
                <a:spcPts val="4139"/>
              </a:lnSpc>
            </a:pPr>
            <a:r>
              <a:rPr lang="en-US" sz="2299">
                <a:solidFill>
                  <a:srgbClr val="FFFFFF"/>
                </a:solidFill>
                <a:latin typeface="Canva Sans"/>
                <a:ea typeface="Canva Sans"/>
                <a:cs typeface="Canva Sans"/>
                <a:sym typeface="Canva Sans"/>
              </a:rPr>
              <a:t>0.816</a:t>
            </a:r>
          </a:p>
          <a:p>
            <a:pPr algn="ctr">
              <a:lnSpc>
                <a:spcPts val="4139"/>
              </a:lnSpc>
            </a:pPr>
            <a:r>
              <a:rPr lang="en-US" sz="2299">
                <a:solidFill>
                  <a:srgbClr val="FFFFFF"/>
                </a:solidFill>
                <a:latin typeface="Canva Sans"/>
                <a:ea typeface="Canva Sans"/>
                <a:cs typeface="Canva Sans"/>
                <a:sym typeface="Canva Sans"/>
              </a:rPr>
              <a:t> </a:t>
            </a:r>
          </a:p>
        </p:txBody>
      </p:sp>
      <p:sp>
        <p:nvSpPr>
          <p:cNvPr id="19" name="TextBox 19"/>
          <p:cNvSpPr txBox="1"/>
          <p:nvPr/>
        </p:nvSpPr>
        <p:spPr>
          <a:xfrm>
            <a:off x="16158923" y="3876404"/>
            <a:ext cx="859383" cy="3101341"/>
          </a:xfrm>
          <a:prstGeom prst="rect">
            <a:avLst/>
          </a:prstGeom>
        </p:spPr>
        <p:txBody>
          <a:bodyPr wrap="square" lIns="0" tIns="0" rIns="0" bIns="0" rtlCol="0" anchor="t">
            <a:spAutoFit/>
          </a:bodyPr>
          <a:lstStyle/>
          <a:p>
            <a:pPr algn="ctr">
              <a:lnSpc>
                <a:spcPts val="4139"/>
              </a:lnSpc>
            </a:pPr>
            <a:r>
              <a:rPr lang="en-US" sz="2299" b="1" dirty="0">
                <a:solidFill>
                  <a:srgbClr val="FFFFFF"/>
                </a:solidFill>
                <a:latin typeface="Canva Sans Bold"/>
                <a:ea typeface="Canva Sans Bold"/>
                <a:cs typeface="Canva Sans Bold"/>
                <a:sym typeface="Canva Sans Bold"/>
              </a:rPr>
              <a:t>Dir</a:t>
            </a:r>
          </a:p>
          <a:p>
            <a:pPr algn="ctr">
              <a:lnSpc>
                <a:spcPts val="4139"/>
              </a:lnSpc>
            </a:pPr>
            <a:r>
              <a:rPr lang="en-US" sz="2299" dirty="0">
                <a:solidFill>
                  <a:srgbClr val="FFFFFF"/>
                </a:solidFill>
                <a:latin typeface="Canva Sans"/>
                <a:ea typeface="Canva Sans"/>
                <a:cs typeface="Canva Sans"/>
                <a:sym typeface="Canva Sans"/>
              </a:rPr>
              <a:t>0.722</a:t>
            </a:r>
          </a:p>
          <a:p>
            <a:pPr algn="ctr">
              <a:lnSpc>
                <a:spcPts val="4139"/>
              </a:lnSpc>
            </a:pPr>
            <a:r>
              <a:rPr lang="en-US" sz="2299" dirty="0">
                <a:solidFill>
                  <a:srgbClr val="FFFFFF"/>
                </a:solidFill>
                <a:latin typeface="Canva Sans"/>
                <a:ea typeface="Canva Sans"/>
                <a:cs typeface="Canva Sans"/>
                <a:sym typeface="Canva Sans"/>
              </a:rPr>
              <a:t>0.778</a:t>
            </a:r>
          </a:p>
          <a:p>
            <a:pPr algn="ctr">
              <a:lnSpc>
                <a:spcPts val="4139"/>
              </a:lnSpc>
            </a:pPr>
            <a:r>
              <a:rPr lang="en-US" sz="2299" dirty="0">
                <a:solidFill>
                  <a:srgbClr val="FFFFFF"/>
                </a:solidFill>
                <a:latin typeface="Canva Sans"/>
                <a:ea typeface="Canva Sans"/>
                <a:cs typeface="Canva Sans"/>
                <a:sym typeface="Canva Sans"/>
              </a:rPr>
              <a:t>0.655</a:t>
            </a:r>
          </a:p>
          <a:p>
            <a:pPr algn="ctr">
              <a:lnSpc>
                <a:spcPts val="4139"/>
              </a:lnSpc>
            </a:pPr>
            <a:r>
              <a:rPr lang="en-US" sz="2299" dirty="0">
                <a:solidFill>
                  <a:srgbClr val="FFFFFF"/>
                </a:solidFill>
                <a:latin typeface="Canva Sans"/>
                <a:ea typeface="Canva Sans"/>
                <a:cs typeface="Canva Sans"/>
                <a:sym typeface="Canva Sans"/>
              </a:rPr>
              <a:t>0.706</a:t>
            </a:r>
          </a:p>
          <a:p>
            <a:pPr algn="ctr">
              <a:lnSpc>
                <a:spcPts val="4139"/>
              </a:lnSpc>
            </a:pPr>
            <a:r>
              <a:rPr lang="en-US" sz="2299" dirty="0">
                <a:solidFill>
                  <a:srgbClr val="FFFFFF"/>
                </a:solidFill>
                <a:latin typeface="Canva Sans"/>
                <a:ea typeface="Canva Sans"/>
                <a:cs typeface="Canva Sans"/>
                <a:sym typeface="Canva Sans"/>
              </a:rPr>
              <a:t> </a:t>
            </a:r>
          </a:p>
        </p:txBody>
      </p:sp>
      <p:grpSp>
        <p:nvGrpSpPr>
          <p:cNvPr id="20" name="Group 20"/>
          <p:cNvGrpSpPr/>
          <p:nvPr/>
        </p:nvGrpSpPr>
        <p:grpSpPr>
          <a:xfrm>
            <a:off x="12834638" y="4691500"/>
            <a:ext cx="91550" cy="9155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C0DF"/>
            </a:solidFill>
          </p:spPr>
          <p:txBody>
            <a:bodyPr/>
            <a:lstStyle/>
            <a:p>
              <a:endParaRPr lang="it-IT"/>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238"/>
                </a:lnSpc>
              </a:pPr>
              <a:endParaRPr/>
            </a:p>
          </p:txBody>
        </p:sp>
      </p:grpSp>
      <p:grpSp>
        <p:nvGrpSpPr>
          <p:cNvPr id="23" name="Group 23"/>
          <p:cNvGrpSpPr/>
          <p:nvPr/>
        </p:nvGrpSpPr>
        <p:grpSpPr>
          <a:xfrm>
            <a:off x="12834638" y="5220204"/>
            <a:ext cx="91550" cy="9155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51F"/>
            </a:solidFill>
          </p:spPr>
          <p:txBody>
            <a:bodyPr/>
            <a:lstStyle/>
            <a:p>
              <a:endParaRPr lang="it-IT"/>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238"/>
                </a:lnSpc>
              </a:pPr>
              <a:endParaRPr/>
            </a:p>
          </p:txBody>
        </p:sp>
      </p:grpSp>
      <p:grpSp>
        <p:nvGrpSpPr>
          <p:cNvPr id="26" name="Group 26"/>
          <p:cNvGrpSpPr/>
          <p:nvPr/>
        </p:nvGrpSpPr>
        <p:grpSpPr>
          <a:xfrm>
            <a:off x="12834638" y="5730853"/>
            <a:ext cx="91550" cy="9155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endParaRPr lang="it-IT"/>
            </a:p>
          </p:txBody>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238"/>
                </a:lnSpc>
              </a:pPr>
              <a:endParaRPr/>
            </a:p>
          </p:txBody>
        </p:sp>
      </p:grpSp>
      <p:grpSp>
        <p:nvGrpSpPr>
          <p:cNvPr id="29" name="Group 29"/>
          <p:cNvGrpSpPr/>
          <p:nvPr/>
        </p:nvGrpSpPr>
        <p:grpSpPr>
          <a:xfrm>
            <a:off x="12834638" y="6241503"/>
            <a:ext cx="91550" cy="91550"/>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it-IT"/>
            </a:p>
          </p:txBody>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238"/>
                </a:lnSpc>
              </a:pPr>
              <a:endParaRPr/>
            </a:p>
          </p:txBody>
        </p:sp>
      </p:grpSp>
      <p:sp>
        <p:nvSpPr>
          <p:cNvPr id="32" name="TextBox 32"/>
          <p:cNvSpPr txBox="1"/>
          <p:nvPr/>
        </p:nvSpPr>
        <p:spPr>
          <a:xfrm>
            <a:off x="13878209" y="2771094"/>
            <a:ext cx="2267015" cy="587376"/>
          </a:xfrm>
          <a:prstGeom prst="rect">
            <a:avLst/>
          </a:prstGeom>
        </p:spPr>
        <p:txBody>
          <a:bodyPr wrap="square" lIns="0" tIns="0" rIns="0" bIns="0" rtlCol="0" anchor="t">
            <a:spAutoFit/>
          </a:bodyPr>
          <a:lstStyle/>
          <a:p>
            <a:pPr algn="ctr">
              <a:lnSpc>
                <a:spcPts val="4899"/>
              </a:lnSpc>
              <a:spcBef>
                <a:spcPct val="0"/>
              </a:spcBef>
            </a:pPr>
            <a:r>
              <a:rPr lang="en-US" sz="3499" b="1" dirty="0">
                <a:solidFill>
                  <a:srgbClr val="FFFFFF"/>
                </a:solidFill>
                <a:latin typeface="Canva Sans Bold"/>
                <a:ea typeface="Canva Sans Bold"/>
                <a:cs typeface="Canva Sans Bold"/>
                <a:sym typeface="Canva Sans Bold"/>
              </a:rPr>
              <a:t>Accuracy</a:t>
            </a:r>
          </a:p>
        </p:txBody>
      </p:sp>
      <p:sp>
        <p:nvSpPr>
          <p:cNvPr id="33" name="TextBox 33"/>
          <p:cNvSpPr txBox="1"/>
          <p:nvPr/>
        </p:nvSpPr>
        <p:spPr>
          <a:xfrm>
            <a:off x="13748013" y="7165355"/>
            <a:ext cx="1988524" cy="389237"/>
          </a:xfrm>
          <a:prstGeom prst="rect">
            <a:avLst/>
          </a:prstGeom>
        </p:spPr>
        <p:txBody>
          <a:bodyPr lIns="0" tIns="0" rIns="0" bIns="0" rtlCol="0" anchor="t">
            <a:spAutoFit/>
          </a:bodyPr>
          <a:lstStyle/>
          <a:p>
            <a:pPr algn="ctr">
              <a:lnSpc>
                <a:spcPts val="3220"/>
              </a:lnSpc>
              <a:spcBef>
                <a:spcPct val="0"/>
              </a:spcBef>
            </a:pPr>
            <a:r>
              <a:rPr lang="en-US" sz="2300" b="1">
                <a:solidFill>
                  <a:srgbClr val="FFFFFF"/>
                </a:solidFill>
                <a:latin typeface="Canva Sans Bold"/>
                <a:ea typeface="Canva Sans Bold"/>
                <a:cs typeface="Canva Sans Bold"/>
                <a:sym typeface="Canva Sans Bold"/>
              </a:rPr>
              <a:t>Best model: D</a:t>
            </a:r>
          </a:p>
        </p:txBody>
      </p:sp>
      <p:sp>
        <p:nvSpPr>
          <p:cNvPr id="34" name="TextBox 34"/>
          <p:cNvSpPr txBox="1"/>
          <p:nvPr/>
        </p:nvSpPr>
        <p:spPr>
          <a:xfrm>
            <a:off x="1028700" y="8045221"/>
            <a:ext cx="16231073" cy="1189301"/>
          </a:xfrm>
          <a:prstGeom prst="rect">
            <a:avLst/>
          </a:prstGeom>
        </p:spPr>
        <p:txBody>
          <a:bodyPr lIns="0" tIns="0" rIns="0" bIns="0" rtlCol="0" anchor="t">
            <a:spAutoFit/>
          </a:bodyPr>
          <a:lstStyle/>
          <a:p>
            <a:pPr algn="l">
              <a:lnSpc>
                <a:spcPts val="3219"/>
              </a:lnSpc>
            </a:pPr>
            <a:r>
              <a:rPr lang="en-US" sz="2299" spc="-45">
                <a:solidFill>
                  <a:srgbClr val="F6FAFD"/>
                </a:solidFill>
                <a:latin typeface="Open Sauce"/>
                <a:ea typeface="Open Sauce"/>
                <a:cs typeface="Open Sauce"/>
                <a:sym typeface="Open Sauce"/>
              </a:rPr>
              <a:t>Model D reaches the lowest total validation loss (0.162) and delivers the strongest combined performance: near-perfect boat recognition (0.999), best-in-class side accuracy (0.816), and competitive direction accuracy (0.706), making it the only model that avoids a critical weakness in any single task.</a:t>
            </a:r>
          </a:p>
        </p:txBody>
      </p:sp>
      <p:sp>
        <p:nvSpPr>
          <p:cNvPr id="39" name="TextBox 39"/>
          <p:cNvSpPr txBox="1"/>
          <p:nvPr/>
        </p:nvSpPr>
        <p:spPr>
          <a:xfrm>
            <a:off x="2990847" y="1088686"/>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HYBRID</a:t>
            </a:r>
          </a:p>
        </p:txBody>
      </p:sp>
      <p:sp>
        <p:nvSpPr>
          <p:cNvPr id="40" name="TextBox 40"/>
          <p:cNvSpPr txBox="1"/>
          <p:nvPr/>
        </p:nvSpPr>
        <p:spPr>
          <a:xfrm>
            <a:off x="6124641" y="1099103"/>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SPATIAL ATTENTION</a:t>
            </a:r>
          </a:p>
        </p:txBody>
      </p:sp>
      <p:sp>
        <p:nvSpPr>
          <p:cNvPr id="41" name="TextBox 41"/>
          <p:cNvSpPr txBox="1"/>
          <p:nvPr/>
        </p:nvSpPr>
        <p:spPr>
          <a:xfrm>
            <a:off x="12244581" y="1088686"/>
            <a:ext cx="2497694"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FINE TUNING</a:t>
            </a:r>
          </a:p>
        </p:txBody>
      </p:sp>
      <p:sp>
        <p:nvSpPr>
          <p:cNvPr id="42" name="TextBox 42"/>
          <p:cNvSpPr txBox="1"/>
          <p:nvPr/>
        </p:nvSpPr>
        <p:spPr>
          <a:xfrm>
            <a:off x="15333335" y="1099103"/>
            <a:ext cx="2497694" cy="549867"/>
          </a:xfrm>
          <a:prstGeom prst="rect">
            <a:avLst/>
          </a:prstGeom>
        </p:spPr>
        <p:txBody>
          <a:bodyPr lIns="0" tIns="0" rIns="0" bIns="0" rtlCol="0" anchor="t">
            <a:spAutoFit/>
          </a:bodyPr>
          <a:lstStyle/>
          <a:p>
            <a:pPr algn="ctr">
              <a:lnSpc>
                <a:spcPts val="2238"/>
              </a:lnSpc>
            </a:pPr>
            <a:r>
              <a:rPr lang="en-US" sz="1598" b="1" spc="-103">
                <a:solidFill>
                  <a:srgbClr val="F6FAFD">
                    <a:alpha val="49804"/>
                  </a:srgbClr>
                </a:solidFill>
                <a:latin typeface="Open Sauce Bold"/>
                <a:ea typeface="Open Sauce Bold"/>
                <a:cs typeface="Open Sauce Bold"/>
                <a:sym typeface="Open Sauce Bold"/>
              </a:rPr>
              <a:t>FUTURE </a:t>
            </a:r>
          </a:p>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PERSPECTIVES</a:t>
            </a:r>
          </a:p>
        </p:txBody>
      </p:sp>
      <p:sp>
        <p:nvSpPr>
          <p:cNvPr id="43" name="TextBox 43"/>
          <p:cNvSpPr txBox="1"/>
          <p:nvPr/>
        </p:nvSpPr>
        <p:spPr>
          <a:xfrm>
            <a:off x="8908368" y="1206475"/>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EVALUATION</a:t>
            </a:r>
          </a:p>
        </p:txBody>
      </p:sp>
      <p:pic>
        <p:nvPicPr>
          <p:cNvPr id="45" name="Immagine 44">
            <a:extLst>
              <a:ext uri="{FF2B5EF4-FFF2-40B4-BE49-F238E27FC236}">
                <a16:creationId xmlns:a16="http://schemas.microsoft.com/office/drawing/2014/main" id="{A31F7668-D517-3EA8-7F1A-E11B7015F11F}"/>
              </a:ext>
            </a:extLst>
          </p:cNvPr>
          <p:cNvPicPr>
            <a:picLocks noChangeAspect="1"/>
          </p:cNvPicPr>
          <p:nvPr/>
        </p:nvPicPr>
        <p:blipFill>
          <a:blip r:embed="rId5"/>
          <a:stretch>
            <a:fillRect/>
          </a:stretch>
        </p:blipFill>
        <p:spPr>
          <a:xfrm>
            <a:off x="762000" y="2586645"/>
            <a:ext cx="11118770" cy="535437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6"/>
                                        </p:tgtEl>
                                      </p:cBhvr>
                                    </p:animEffect>
                                    <p:set>
                                      <p:cBhvr>
                                        <p:cTn id="10" dur="1" fill="hold">
                                          <p:stCondLst>
                                            <p:cond delay="499"/>
                                          </p:stCondLst>
                                        </p:cTn>
                                        <p:tgtEl>
                                          <p:spTgt spid="16"/>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18"/>
                                        </p:tgtEl>
                                      </p:cBhvr>
                                    </p:animEffect>
                                    <p:set>
                                      <p:cBhvr>
                                        <p:cTn id="16" dur="1" fill="hold">
                                          <p:stCondLst>
                                            <p:cond delay="499"/>
                                          </p:stCondLst>
                                        </p:cTn>
                                        <p:tgtEl>
                                          <p:spTgt spid="18"/>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20"/>
                                        </p:tgtEl>
                                      </p:cBhvr>
                                    </p:animEffect>
                                    <p:set>
                                      <p:cBhvr>
                                        <p:cTn id="22" dur="1" fill="hold">
                                          <p:stCondLst>
                                            <p:cond delay="499"/>
                                          </p:stCondLst>
                                        </p:cTn>
                                        <p:tgtEl>
                                          <p:spTgt spid="20"/>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26"/>
                                        </p:tgtEl>
                                      </p:cBhvr>
                                    </p:animEffect>
                                    <p:set>
                                      <p:cBhvr>
                                        <p:cTn id="28" dur="1" fill="hold">
                                          <p:stCondLst>
                                            <p:cond delay="499"/>
                                          </p:stCondLst>
                                        </p:cTn>
                                        <p:tgtEl>
                                          <p:spTgt spid="26"/>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29"/>
                                        </p:tgtEl>
                                      </p:cBhvr>
                                    </p:animEffect>
                                    <p:set>
                                      <p:cBhvr>
                                        <p:cTn id="31" dur="1" fill="hold">
                                          <p:stCondLst>
                                            <p:cond delay="499"/>
                                          </p:stCondLst>
                                        </p:cTn>
                                        <p:tgtEl>
                                          <p:spTgt spid="29"/>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32"/>
                                        </p:tgtEl>
                                      </p:cBhvr>
                                    </p:animEffect>
                                    <p:set>
                                      <p:cBhvr>
                                        <p:cTn id="34" dur="1" fill="hold">
                                          <p:stCondLst>
                                            <p:cond delay="499"/>
                                          </p:stCondLst>
                                        </p:cTn>
                                        <p:tgtEl>
                                          <p:spTgt spid="32"/>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33"/>
                                        </p:tgtEl>
                                      </p:cBhvr>
                                    </p:animEffect>
                                    <p:set>
                                      <p:cBhvr>
                                        <p:cTn id="37" dur="1" fill="hold">
                                          <p:stCondLst>
                                            <p:cond delay="499"/>
                                          </p:stCondLst>
                                        </p:cTn>
                                        <p:tgtEl>
                                          <p:spTgt spid="33"/>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500"/>
                                        <p:tgtEl>
                                          <p:spTgt spid="34"/>
                                        </p:tgtEl>
                                      </p:cBhvr>
                                    </p:animEffect>
                                    <p:set>
                                      <p:cBhvr>
                                        <p:cTn id="40" dur="1" fill="hold">
                                          <p:stCondLst>
                                            <p:cond delay="499"/>
                                          </p:stCondLst>
                                        </p:cTn>
                                        <p:tgtEl>
                                          <p:spTgt spid="34"/>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45"/>
                                        </p:tgtEl>
                                      </p:cBhvr>
                                    </p:animEffect>
                                    <p:set>
                                      <p:cBhvr>
                                        <p:cTn id="43"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32" grpId="0"/>
      <p:bldP spid="33"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pic>
        <p:nvPicPr>
          <p:cNvPr id="38" name="Immagine 37">
            <a:extLst>
              <a:ext uri="{FF2B5EF4-FFF2-40B4-BE49-F238E27FC236}">
                <a16:creationId xmlns:a16="http://schemas.microsoft.com/office/drawing/2014/main" id="{73929C4B-053C-E0B5-9FB3-C67332468EBC}"/>
              </a:ext>
            </a:extLst>
          </p:cNvPr>
          <p:cNvPicPr>
            <a:picLocks noChangeAspect="1"/>
          </p:cNvPicPr>
          <p:nvPr/>
        </p:nvPicPr>
        <p:blipFill>
          <a:blip r:embed="rId3"/>
          <a:stretch>
            <a:fillRect/>
          </a:stretch>
        </p:blipFill>
        <p:spPr>
          <a:xfrm>
            <a:off x="820485" y="2330016"/>
            <a:ext cx="16670686" cy="7408286"/>
          </a:xfrm>
          <a:prstGeom prst="rect">
            <a:avLst/>
          </a:prstGeom>
        </p:spPr>
      </p:pic>
      <p:sp>
        <p:nvSpPr>
          <p:cNvPr id="2" name="Freeform 2"/>
          <p:cNvSpPr/>
          <p:nvPr/>
        </p:nvSpPr>
        <p:spPr>
          <a:xfrm>
            <a:off x="933279"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3" name="Freeform 3"/>
          <p:cNvSpPr/>
          <p:nvPr/>
        </p:nvSpPr>
        <p:spPr>
          <a:xfrm>
            <a:off x="2820676"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4" name="Freeform 4"/>
          <p:cNvSpPr/>
          <p:nvPr/>
        </p:nvSpPr>
        <p:spPr>
          <a:xfrm>
            <a:off x="1876977" y="770797"/>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5" name="Freeform 5"/>
          <p:cNvSpPr/>
          <p:nvPr/>
        </p:nvSpPr>
        <p:spPr>
          <a:xfrm>
            <a:off x="1401332" y="770797"/>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6" name="AutoShape 6"/>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7" name="Freeform 7"/>
          <p:cNvSpPr/>
          <p:nvPr/>
        </p:nvSpPr>
        <p:spPr>
          <a:xfrm>
            <a:off x="16487234"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8" name="Freeform 8"/>
          <p:cNvSpPr/>
          <p:nvPr/>
        </p:nvSpPr>
        <p:spPr>
          <a:xfrm>
            <a:off x="4061863"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9" name="Freeform 9"/>
          <p:cNvSpPr/>
          <p:nvPr/>
        </p:nvSpPr>
        <p:spPr>
          <a:xfrm>
            <a:off x="10309727"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0" name="Freeform 10"/>
          <p:cNvSpPr/>
          <p:nvPr/>
        </p:nvSpPr>
        <p:spPr>
          <a:xfrm>
            <a:off x="7195657" y="7744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sp>
        <p:nvSpPr>
          <p:cNvPr id="11" name="Freeform 11"/>
          <p:cNvSpPr/>
          <p:nvPr/>
        </p:nvSpPr>
        <p:spPr>
          <a:xfrm>
            <a:off x="13238107" y="607508"/>
            <a:ext cx="519317" cy="519317"/>
          </a:xfrm>
          <a:custGeom>
            <a:avLst/>
            <a:gdLst/>
            <a:ahLst/>
            <a:cxnLst/>
            <a:rect l="l" t="t" r="r" b="b"/>
            <a:pathLst>
              <a:path w="519317" h="519317">
                <a:moveTo>
                  <a:pt x="0" y="0"/>
                </a:moveTo>
                <a:lnTo>
                  <a:pt x="519317" y="0"/>
                </a:lnTo>
                <a:lnTo>
                  <a:pt x="519317" y="519317"/>
                </a:lnTo>
                <a:lnTo>
                  <a:pt x="0" y="51931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it-IT"/>
          </a:p>
        </p:txBody>
      </p:sp>
      <p:sp>
        <p:nvSpPr>
          <p:cNvPr id="12" name="Freeform 12"/>
          <p:cNvSpPr/>
          <p:nvPr/>
        </p:nvSpPr>
        <p:spPr>
          <a:xfrm>
            <a:off x="13398481" y="772219"/>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4"/>
                </a:ext>
              </a:extLst>
            </a:blip>
            <a:stretch>
              <a:fillRect/>
            </a:stretch>
          </a:blipFill>
        </p:spPr>
        <p:txBody>
          <a:bodyPr/>
          <a:lstStyle/>
          <a:p>
            <a:endParaRPr lang="it-IT"/>
          </a:p>
        </p:txBody>
      </p:sp>
      <p:grpSp>
        <p:nvGrpSpPr>
          <p:cNvPr id="17" name="Group 17"/>
          <p:cNvGrpSpPr/>
          <p:nvPr/>
        </p:nvGrpSpPr>
        <p:grpSpPr>
          <a:xfrm>
            <a:off x="11133203" y="3621304"/>
            <a:ext cx="5784936" cy="1997866"/>
            <a:chOff x="0" y="0"/>
            <a:chExt cx="1703311" cy="696139"/>
          </a:xfrm>
          <a:solidFill>
            <a:srgbClr val="094955"/>
          </a:solidFill>
        </p:grpSpPr>
        <p:sp>
          <p:nvSpPr>
            <p:cNvPr id="18" name="Freeform 18"/>
            <p:cNvSpPr/>
            <p:nvPr/>
          </p:nvSpPr>
          <p:spPr>
            <a:xfrm>
              <a:off x="0" y="0"/>
              <a:ext cx="1703311" cy="696139"/>
            </a:xfrm>
            <a:custGeom>
              <a:avLst/>
              <a:gdLst/>
              <a:ahLst/>
              <a:cxnLst/>
              <a:rect l="l" t="t" r="r" b="b"/>
              <a:pathLst>
                <a:path w="1703311" h="696139">
                  <a:moveTo>
                    <a:pt x="41898" y="0"/>
                  </a:moveTo>
                  <a:lnTo>
                    <a:pt x="1661413" y="0"/>
                  </a:lnTo>
                  <a:cubicBezTo>
                    <a:pt x="1672525" y="0"/>
                    <a:pt x="1683182" y="4414"/>
                    <a:pt x="1691039" y="12272"/>
                  </a:cubicBezTo>
                  <a:cubicBezTo>
                    <a:pt x="1698896" y="20129"/>
                    <a:pt x="1703311" y="30786"/>
                    <a:pt x="1703311" y="41898"/>
                  </a:cubicBezTo>
                  <a:lnTo>
                    <a:pt x="1703311" y="654241"/>
                  </a:lnTo>
                  <a:cubicBezTo>
                    <a:pt x="1703311" y="677380"/>
                    <a:pt x="1684552" y="696139"/>
                    <a:pt x="1661413" y="696139"/>
                  </a:cubicBezTo>
                  <a:lnTo>
                    <a:pt x="41898" y="696139"/>
                  </a:lnTo>
                  <a:cubicBezTo>
                    <a:pt x="30786" y="696139"/>
                    <a:pt x="20129" y="691725"/>
                    <a:pt x="12272" y="683867"/>
                  </a:cubicBezTo>
                  <a:cubicBezTo>
                    <a:pt x="4414" y="676010"/>
                    <a:pt x="0" y="665353"/>
                    <a:pt x="0" y="654241"/>
                  </a:cubicBezTo>
                  <a:lnTo>
                    <a:pt x="0" y="41898"/>
                  </a:lnTo>
                  <a:cubicBezTo>
                    <a:pt x="0" y="30786"/>
                    <a:pt x="4414" y="20129"/>
                    <a:pt x="12272" y="12272"/>
                  </a:cubicBezTo>
                  <a:cubicBezTo>
                    <a:pt x="20129" y="4414"/>
                    <a:pt x="30786" y="0"/>
                    <a:pt x="41898" y="0"/>
                  </a:cubicBezTo>
                  <a:close/>
                </a:path>
              </a:pathLst>
            </a:custGeom>
            <a:grpFill/>
            <a:ln w="19050" cap="rnd">
              <a:noFill/>
              <a:prstDash val="solid"/>
              <a:round/>
            </a:ln>
          </p:spPr>
          <p:txBody>
            <a:bodyPr/>
            <a:lstStyle/>
            <a:p>
              <a:endParaRPr lang="it-IT"/>
            </a:p>
          </p:txBody>
        </p:sp>
        <p:sp>
          <p:nvSpPr>
            <p:cNvPr id="19" name="TextBox 19"/>
            <p:cNvSpPr txBox="1"/>
            <p:nvPr/>
          </p:nvSpPr>
          <p:spPr>
            <a:xfrm>
              <a:off x="0" y="-133350"/>
              <a:ext cx="1703311" cy="829489"/>
            </a:xfrm>
            <a:prstGeom prst="rect">
              <a:avLst/>
            </a:prstGeom>
            <a:grpFill/>
            <a:ln>
              <a:noFill/>
            </a:ln>
          </p:spPr>
          <p:txBody>
            <a:bodyPr lIns="50800" tIns="50800" rIns="50800" bIns="50800" rtlCol="0" anchor="ctr"/>
            <a:lstStyle/>
            <a:p>
              <a:pPr algn="ctr">
                <a:lnSpc>
                  <a:spcPts val="4140"/>
                </a:lnSpc>
              </a:pPr>
              <a:endParaRPr/>
            </a:p>
          </p:txBody>
        </p:sp>
      </p:grpSp>
      <p:sp>
        <p:nvSpPr>
          <p:cNvPr id="20" name="TextBox 20"/>
          <p:cNvSpPr txBox="1"/>
          <p:nvPr/>
        </p:nvSpPr>
        <p:spPr>
          <a:xfrm>
            <a:off x="11133203" y="3479584"/>
            <a:ext cx="1207973" cy="2053590"/>
          </a:xfrm>
          <a:prstGeom prst="rect">
            <a:avLst/>
          </a:prstGeom>
        </p:spPr>
        <p:txBody>
          <a:bodyPr lIns="0" tIns="0" rIns="0" bIns="0" rtlCol="0" anchor="t">
            <a:spAutoFit/>
          </a:bodyPr>
          <a:lstStyle/>
          <a:p>
            <a:pPr algn="ctr">
              <a:lnSpc>
                <a:spcPts val="4140"/>
              </a:lnSpc>
            </a:pPr>
            <a:endParaRPr dirty="0"/>
          </a:p>
          <a:p>
            <a:pPr algn="ctr">
              <a:lnSpc>
                <a:spcPts val="4140"/>
              </a:lnSpc>
            </a:pPr>
            <a:r>
              <a:rPr lang="en-US" sz="2300" b="1" dirty="0">
                <a:solidFill>
                  <a:srgbClr val="FFFFFF"/>
                </a:solidFill>
                <a:latin typeface="Canva Sans Bold"/>
                <a:ea typeface="Canva Sans Bold"/>
                <a:cs typeface="Canva Sans Bold"/>
                <a:sym typeface="Canva Sans Bold"/>
              </a:rPr>
              <a:t>Phase 1</a:t>
            </a:r>
          </a:p>
          <a:p>
            <a:pPr algn="ctr">
              <a:lnSpc>
                <a:spcPts val="4140"/>
              </a:lnSpc>
            </a:pPr>
            <a:r>
              <a:rPr lang="en-US" sz="2300" b="1" dirty="0">
                <a:solidFill>
                  <a:srgbClr val="FFFFFF"/>
                </a:solidFill>
                <a:latin typeface="Canva Sans Bold"/>
                <a:ea typeface="Canva Sans Bold"/>
                <a:cs typeface="Canva Sans Bold"/>
                <a:sym typeface="Canva Sans Bold"/>
              </a:rPr>
              <a:t>Phase 2</a:t>
            </a:r>
          </a:p>
          <a:p>
            <a:pPr algn="ctr">
              <a:lnSpc>
                <a:spcPts val="4140"/>
              </a:lnSpc>
            </a:pPr>
            <a:endParaRPr lang="en-US" sz="2300" b="1" dirty="0">
              <a:solidFill>
                <a:srgbClr val="FFFFFF"/>
              </a:solidFill>
              <a:latin typeface="Canva Sans Bold"/>
              <a:ea typeface="Canva Sans Bold"/>
              <a:cs typeface="Canva Sans Bold"/>
              <a:sym typeface="Canva Sans Bold"/>
            </a:endParaRPr>
          </a:p>
        </p:txBody>
      </p:sp>
      <p:sp>
        <p:nvSpPr>
          <p:cNvPr id="21" name="TextBox 21"/>
          <p:cNvSpPr txBox="1"/>
          <p:nvPr/>
        </p:nvSpPr>
        <p:spPr>
          <a:xfrm>
            <a:off x="12774954" y="3456694"/>
            <a:ext cx="1103704" cy="2053590"/>
          </a:xfrm>
          <a:prstGeom prst="rect">
            <a:avLst/>
          </a:prstGeom>
        </p:spPr>
        <p:txBody>
          <a:bodyPr lIns="0" tIns="0" rIns="0" bIns="0" rtlCol="0" anchor="t">
            <a:spAutoFit/>
          </a:bodyPr>
          <a:lstStyle/>
          <a:p>
            <a:pPr algn="ctr">
              <a:lnSpc>
                <a:spcPts val="4140"/>
              </a:lnSpc>
            </a:pPr>
            <a:r>
              <a:rPr lang="en-US" sz="2300" b="1" dirty="0">
                <a:solidFill>
                  <a:srgbClr val="FFFFFF"/>
                </a:solidFill>
                <a:latin typeface="Canva Sans Bold"/>
                <a:ea typeface="Canva Sans Bold"/>
                <a:cs typeface="Canva Sans Bold"/>
                <a:sym typeface="Canva Sans Bold"/>
              </a:rPr>
              <a:t>Boat</a:t>
            </a:r>
          </a:p>
          <a:p>
            <a:pPr algn="ctr">
              <a:lnSpc>
                <a:spcPts val="4140"/>
              </a:lnSpc>
            </a:pPr>
            <a:r>
              <a:rPr lang="en-US" sz="2300" dirty="0">
                <a:solidFill>
                  <a:srgbClr val="FFFFFF"/>
                </a:solidFill>
                <a:latin typeface="Canva Sans"/>
                <a:ea typeface="Canva Sans"/>
                <a:cs typeface="Canva Sans"/>
                <a:sym typeface="Canva Sans"/>
              </a:rPr>
              <a:t>0.999</a:t>
            </a:r>
          </a:p>
          <a:p>
            <a:pPr algn="ctr">
              <a:lnSpc>
                <a:spcPts val="4140"/>
              </a:lnSpc>
            </a:pPr>
            <a:r>
              <a:rPr lang="en-US" sz="2300" dirty="0">
                <a:solidFill>
                  <a:srgbClr val="FFFFFF"/>
                </a:solidFill>
                <a:latin typeface="Canva Sans"/>
                <a:ea typeface="Canva Sans"/>
                <a:cs typeface="Canva Sans"/>
                <a:sym typeface="Canva Sans"/>
              </a:rPr>
              <a:t>0.992</a:t>
            </a:r>
          </a:p>
          <a:p>
            <a:pPr algn="ctr">
              <a:lnSpc>
                <a:spcPts val="4140"/>
              </a:lnSpc>
            </a:pPr>
            <a:r>
              <a:rPr lang="en-US" sz="2300" dirty="0">
                <a:solidFill>
                  <a:srgbClr val="FF3131"/>
                </a:solidFill>
                <a:latin typeface="Canva Sans"/>
                <a:ea typeface="Canva Sans"/>
                <a:cs typeface="Canva Sans"/>
                <a:sym typeface="Canva Sans"/>
              </a:rPr>
              <a:t>-0.007 </a:t>
            </a:r>
          </a:p>
        </p:txBody>
      </p:sp>
      <p:sp>
        <p:nvSpPr>
          <p:cNvPr id="22" name="TextBox 22"/>
          <p:cNvSpPr txBox="1"/>
          <p:nvPr/>
        </p:nvSpPr>
        <p:spPr>
          <a:xfrm>
            <a:off x="14248662" y="3456694"/>
            <a:ext cx="1282116" cy="2577465"/>
          </a:xfrm>
          <a:prstGeom prst="rect">
            <a:avLst/>
          </a:prstGeom>
        </p:spPr>
        <p:txBody>
          <a:bodyPr lIns="0" tIns="0" rIns="0" bIns="0" rtlCol="0" anchor="t">
            <a:spAutoFit/>
          </a:bodyPr>
          <a:lstStyle/>
          <a:p>
            <a:pPr algn="ctr">
              <a:lnSpc>
                <a:spcPts val="4140"/>
              </a:lnSpc>
            </a:pPr>
            <a:r>
              <a:rPr lang="en-US" sz="2300" b="1">
                <a:solidFill>
                  <a:srgbClr val="FFFFFF"/>
                </a:solidFill>
                <a:latin typeface="Canva Sans Bold"/>
                <a:ea typeface="Canva Sans Bold"/>
                <a:cs typeface="Canva Sans Bold"/>
                <a:sym typeface="Canva Sans Bold"/>
              </a:rPr>
              <a:t>Side</a:t>
            </a:r>
          </a:p>
          <a:p>
            <a:pPr algn="ctr">
              <a:lnSpc>
                <a:spcPts val="4140"/>
              </a:lnSpc>
            </a:pPr>
            <a:r>
              <a:rPr lang="en-US" sz="2300">
                <a:solidFill>
                  <a:srgbClr val="FFFFFF"/>
                </a:solidFill>
                <a:latin typeface="Canva Sans"/>
                <a:ea typeface="Canva Sans"/>
                <a:cs typeface="Canva Sans"/>
                <a:sym typeface="Canva Sans"/>
              </a:rPr>
              <a:t>0.816</a:t>
            </a:r>
          </a:p>
          <a:p>
            <a:pPr algn="ctr">
              <a:lnSpc>
                <a:spcPts val="4140"/>
              </a:lnSpc>
            </a:pPr>
            <a:r>
              <a:rPr lang="en-US" sz="2300">
                <a:solidFill>
                  <a:srgbClr val="FFFFFF"/>
                </a:solidFill>
                <a:latin typeface="Canva Sans"/>
                <a:ea typeface="Canva Sans"/>
                <a:cs typeface="Canva Sans"/>
                <a:sym typeface="Canva Sans"/>
              </a:rPr>
              <a:t>0.864</a:t>
            </a:r>
          </a:p>
          <a:p>
            <a:pPr algn="ctr">
              <a:lnSpc>
                <a:spcPts val="4140"/>
              </a:lnSpc>
            </a:pPr>
            <a:r>
              <a:rPr lang="en-US" sz="2300">
                <a:solidFill>
                  <a:srgbClr val="00BF63"/>
                </a:solidFill>
                <a:latin typeface="Canva Sans"/>
                <a:ea typeface="Canva Sans"/>
                <a:cs typeface="Canva Sans"/>
                <a:sym typeface="Canva Sans"/>
              </a:rPr>
              <a:t>+0.048</a:t>
            </a:r>
          </a:p>
          <a:p>
            <a:pPr algn="ctr">
              <a:lnSpc>
                <a:spcPts val="4140"/>
              </a:lnSpc>
            </a:pPr>
            <a:endParaRPr lang="en-US" sz="2300">
              <a:solidFill>
                <a:srgbClr val="00BF63"/>
              </a:solidFill>
              <a:latin typeface="Canva Sans"/>
              <a:ea typeface="Canva Sans"/>
              <a:cs typeface="Canva Sans"/>
              <a:sym typeface="Canva Sans"/>
            </a:endParaRPr>
          </a:p>
        </p:txBody>
      </p:sp>
      <p:sp>
        <p:nvSpPr>
          <p:cNvPr id="23" name="TextBox 23"/>
          <p:cNvSpPr txBox="1"/>
          <p:nvPr/>
        </p:nvSpPr>
        <p:spPr>
          <a:xfrm>
            <a:off x="15840411" y="3456694"/>
            <a:ext cx="1077727" cy="2053590"/>
          </a:xfrm>
          <a:prstGeom prst="rect">
            <a:avLst/>
          </a:prstGeom>
        </p:spPr>
        <p:txBody>
          <a:bodyPr lIns="0" tIns="0" rIns="0" bIns="0" rtlCol="0" anchor="t">
            <a:spAutoFit/>
          </a:bodyPr>
          <a:lstStyle/>
          <a:p>
            <a:pPr algn="ctr">
              <a:lnSpc>
                <a:spcPts val="4140"/>
              </a:lnSpc>
            </a:pPr>
            <a:r>
              <a:rPr lang="en-US" sz="2300" b="1">
                <a:solidFill>
                  <a:srgbClr val="FFFFFF"/>
                </a:solidFill>
                <a:latin typeface="Canva Sans Bold"/>
                <a:ea typeface="Canva Sans Bold"/>
                <a:cs typeface="Canva Sans Bold"/>
                <a:sym typeface="Canva Sans Bold"/>
              </a:rPr>
              <a:t>Dir</a:t>
            </a:r>
          </a:p>
          <a:p>
            <a:pPr algn="ctr">
              <a:lnSpc>
                <a:spcPts val="4140"/>
              </a:lnSpc>
            </a:pPr>
            <a:r>
              <a:rPr lang="en-US" sz="2300">
                <a:solidFill>
                  <a:srgbClr val="FFFFFF"/>
                </a:solidFill>
                <a:latin typeface="Canva Sans"/>
                <a:ea typeface="Canva Sans"/>
                <a:cs typeface="Canva Sans"/>
                <a:sym typeface="Canva Sans"/>
              </a:rPr>
              <a:t>0.706</a:t>
            </a:r>
          </a:p>
          <a:p>
            <a:pPr algn="ctr">
              <a:lnSpc>
                <a:spcPts val="4140"/>
              </a:lnSpc>
            </a:pPr>
            <a:r>
              <a:rPr lang="en-US" sz="2300">
                <a:solidFill>
                  <a:srgbClr val="FFFFFF"/>
                </a:solidFill>
                <a:latin typeface="Canva Sans"/>
                <a:ea typeface="Canva Sans"/>
                <a:cs typeface="Canva Sans"/>
                <a:sym typeface="Canva Sans"/>
              </a:rPr>
              <a:t>0.741</a:t>
            </a:r>
          </a:p>
          <a:p>
            <a:pPr algn="ctr">
              <a:lnSpc>
                <a:spcPts val="4140"/>
              </a:lnSpc>
            </a:pPr>
            <a:r>
              <a:rPr lang="en-US" sz="2300">
                <a:solidFill>
                  <a:srgbClr val="00BF63"/>
                </a:solidFill>
                <a:latin typeface="Canva Sans"/>
                <a:ea typeface="Canva Sans"/>
                <a:cs typeface="Canva Sans"/>
                <a:sym typeface="Canva Sans"/>
              </a:rPr>
              <a:t>+0.035</a:t>
            </a:r>
            <a:r>
              <a:rPr lang="en-US" sz="2300">
                <a:solidFill>
                  <a:srgbClr val="FF3131"/>
                </a:solidFill>
                <a:latin typeface="Canva Sans"/>
                <a:ea typeface="Canva Sans"/>
                <a:cs typeface="Canva Sans"/>
                <a:sym typeface="Canva Sans"/>
              </a:rPr>
              <a:t> </a:t>
            </a:r>
          </a:p>
        </p:txBody>
      </p:sp>
      <p:grpSp>
        <p:nvGrpSpPr>
          <p:cNvPr id="24" name="Group 24"/>
          <p:cNvGrpSpPr/>
          <p:nvPr/>
        </p:nvGrpSpPr>
        <p:grpSpPr>
          <a:xfrm>
            <a:off x="10792042" y="7005066"/>
            <a:ext cx="2606439" cy="2233288"/>
            <a:chOff x="0" y="0"/>
            <a:chExt cx="686470" cy="588191"/>
          </a:xfrm>
        </p:grpSpPr>
        <p:sp>
          <p:nvSpPr>
            <p:cNvPr id="25" name="Freeform 25"/>
            <p:cNvSpPr/>
            <p:nvPr/>
          </p:nvSpPr>
          <p:spPr>
            <a:xfrm>
              <a:off x="0" y="0"/>
              <a:ext cx="686470" cy="588191"/>
            </a:xfrm>
            <a:custGeom>
              <a:avLst/>
              <a:gdLst/>
              <a:ahLst/>
              <a:cxnLst/>
              <a:rect l="l" t="t" r="r" b="b"/>
              <a:pathLst>
                <a:path w="686470" h="588191">
                  <a:moveTo>
                    <a:pt x="103961" y="0"/>
                  </a:moveTo>
                  <a:lnTo>
                    <a:pt x="582509" y="0"/>
                  </a:lnTo>
                  <a:cubicBezTo>
                    <a:pt x="610081" y="0"/>
                    <a:pt x="636524" y="10953"/>
                    <a:pt x="656020" y="30449"/>
                  </a:cubicBezTo>
                  <a:cubicBezTo>
                    <a:pt x="675517" y="49946"/>
                    <a:pt x="686470" y="76389"/>
                    <a:pt x="686470" y="103961"/>
                  </a:cubicBezTo>
                  <a:lnTo>
                    <a:pt x="686470" y="484230"/>
                  </a:lnTo>
                  <a:cubicBezTo>
                    <a:pt x="686470" y="511803"/>
                    <a:pt x="675517" y="538245"/>
                    <a:pt x="656020" y="557742"/>
                  </a:cubicBezTo>
                  <a:cubicBezTo>
                    <a:pt x="636524" y="577238"/>
                    <a:pt x="610081" y="588191"/>
                    <a:pt x="582509" y="588191"/>
                  </a:cubicBezTo>
                  <a:lnTo>
                    <a:pt x="103961" y="588191"/>
                  </a:lnTo>
                  <a:cubicBezTo>
                    <a:pt x="76389" y="588191"/>
                    <a:pt x="49946" y="577238"/>
                    <a:pt x="30449" y="557742"/>
                  </a:cubicBezTo>
                  <a:cubicBezTo>
                    <a:pt x="10953" y="538245"/>
                    <a:pt x="0" y="511803"/>
                    <a:pt x="0" y="484230"/>
                  </a:cubicBezTo>
                  <a:lnTo>
                    <a:pt x="0" y="103961"/>
                  </a:lnTo>
                  <a:cubicBezTo>
                    <a:pt x="0" y="76389"/>
                    <a:pt x="10953" y="49946"/>
                    <a:pt x="30449" y="30449"/>
                  </a:cubicBezTo>
                  <a:cubicBezTo>
                    <a:pt x="49946" y="10953"/>
                    <a:pt x="76389" y="0"/>
                    <a:pt x="103961" y="0"/>
                  </a:cubicBezTo>
                  <a:close/>
                </a:path>
              </a:pathLst>
            </a:custGeom>
            <a:ln w="19050" cap="rnd">
              <a:noFill/>
              <a:prstDash val="solid"/>
              <a:round/>
            </a:ln>
          </p:spPr>
          <p:txBody>
            <a:bodyPr/>
            <a:lstStyle/>
            <a:p>
              <a:endParaRPr lang="it-IT"/>
            </a:p>
          </p:txBody>
        </p:sp>
        <p:sp>
          <p:nvSpPr>
            <p:cNvPr id="26" name="TextBox 26"/>
            <p:cNvSpPr txBox="1"/>
            <p:nvPr/>
          </p:nvSpPr>
          <p:spPr>
            <a:xfrm>
              <a:off x="0" y="-38100"/>
              <a:ext cx="686470" cy="626291"/>
            </a:xfrm>
            <a:prstGeom prst="rect">
              <a:avLst/>
            </a:prstGeom>
            <a:ln>
              <a:noFill/>
            </a:ln>
          </p:spPr>
          <p:txBody>
            <a:bodyPr lIns="50800" tIns="50800" rIns="50800" bIns="50800" rtlCol="0" anchor="ctr"/>
            <a:lstStyle/>
            <a:p>
              <a:pPr algn="ctr">
                <a:lnSpc>
                  <a:spcPts val="2659"/>
                </a:lnSpc>
              </a:pPr>
              <a:endParaRPr/>
            </a:p>
          </p:txBody>
        </p:sp>
      </p:grpSp>
      <p:sp>
        <p:nvSpPr>
          <p:cNvPr id="28" name="TextBox 28"/>
          <p:cNvSpPr txBox="1"/>
          <p:nvPr/>
        </p:nvSpPr>
        <p:spPr>
          <a:xfrm>
            <a:off x="12080742" y="2444956"/>
            <a:ext cx="3889857" cy="495301"/>
          </a:xfrm>
          <a:prstGeom prst="rect">
            <a:avLst/>
          </a:prstGeom>
          <a:solidFill>
            <a:srgbClr val="094955"/>
          </a:solidFill>
        </p:spPr>
        <p:txBody>
          <a:bodyPr lIns="0" tIns="0" rIns="0" bIns="0" rtlCol="0" anchor="t">
            <a:spAutoFit/>
          </a:bodyPr>
          <a:lstStyle/>
          <a:p>
            <a:pPr algn="ctr">
              <a:lnSpc>
                <a:spcPts val="4199"/>
              </a:lnSpc>
              <a:spcBef>
                <a:spcPct val="0"/>
              </a:spcBef>
            </a:pPr>
            <a:r>
              <a:rPr lang="en-US" sz="2999" b="1" dirty="0">
                <a:solidFill>
                  <a:srgbClr val="FFFFFF"/>
                </a:solidFill>
                <a:latin typeface="Canva Sans Bold"/>
                <a:ea typeface="Canva Sans Bold"/>
                <a:cs typeface="Canva Sans Bold"/>
                <a:sym typeface="Canva Sans Bold"/>
              </a:rPr>
              <a:t>Validation accuracy</a:t>
            </a:r>
          </a:p>
        </p:txBody>
      </p:sp>
      <p:sp>
        <p:nvSpPr>
          <p:cNvPr id="29" name="TextBox 29"/>
          <p:cNvSpPr txBox="1"/>
          <p:nvPr/>
        </p:nvSpPr>
        <p:spPr>
          <a:xfrm>
            <a:off x="11541773" y="6252590"/>
            <a:ext cx="1106977" cy="495301"/>
          </a:xfrm>
          <a:prstGeom prst="rect">
            <a:avLst/>
          </a:prstGeom>
          <a:solidFill>
            <a:srgbClr val="094955"/>
          </a:solidFill>
        </p:spPr>
        <p:txBody>
          <a:bodyPr lIns="0" tIns="0" rIns="0" bIns="0" rtlCol="0" anchor="t">
            <a:spAutoFit/>
          </a:bodyPr>
          <a:lstStyle/>
          <a:p>
            <a:pPr algn="ctr">
              <a:lnSpc>
                <a:spcPts val="4199"/>
              </a:lnSpc>
              <a:spcBef>
                <a:spcPct val="0"/>
              </a:spcBef>
            </a:pPr>
            <a:r>
              <a:rPr lang="en-US" sz="2999" b="1" dirty="0">
                <a:solidFill>
                  <a:srgbClr val="FFFFFF"/>
                </a:solidFill>
                <a:latin typeface="Canva Sans Bold"/>
                <a:ea typeface="Canva Sans Bold"/>
                <a:cs typeface="Canva Sans Bold"/>
                <a:sym typeface="Canva Sans Bold"/>
              </a:rPr>
              <a:t>Test</a:t>
            </a:r>
          </a:p>
        </p:txBody>
      </p:sp>
      <p:sp>
        <p:nvSpPr>
          <p:cNvPr id="30" name="TextBox 30"/>
          <p:cNvSpPr txBox="1"/>
          <p:nvPr/>
        </p:nvSpPr>
        <p:spPr>
          <a:xfrm>
            <a:off x="10956211" y="7290177"/>
            <a:ext cx="900746" cy="1529716"/>
          </a:xfrm>
          <a:prstGeom prst="rect">
            <a:avLst/>
          </a:prstGeom>
          <a:solidFill>
            <a:srgbClr val="094955"/>
          </a:solidFill>
          <a:ln>
            <a:noFill/>
          </a:ln>
        </p:spPr>
        <p:txBody>
          <a:bodyPr lIns="0" tIns="0" rIns="0" bIns="0" rtlCol="0" anchor="t">
            <a:spAutoFit/>
          </a:bodyPr>
          <a:lstStyle/>
          <a:p>
            <a:pPr algn="ctr">
              <a:lnSpc>
                <a:spcPts val="4139"/>
              </a:lnSpc>
            </a:pPr>
            <a:r>
              <a:rPr lang="en-US" sz="2299" b="1" dirty="0">
                <a:solidFill>
                  <a:srgbClr val="FFFFFF"/>
                </a:solidFill>
                <a:latin typeface="Canva Sans Bold"/>
                <a:ea typeface="Canva Sans Bold"/>
                <a:cs typeface="Canva Sans Bold"/>
                <a:sym typeface="Canva Sans Bold"/>
              </a:rPr>
              <a:t>Boat</a:t>
            </a:r>
          </a:p>
          <a:p>
            <a:pPr algn="ctr">
              <a:lnSpc>
                <a:spcPts val="4139"/>
              </a:lnSpc>
            </a:pPr>
            <a:r>
              <a:rPr lang="en-US" sz="2299" b="1" dirty="0">
                <a:solidFill>
                  <a:srgbClr val="FFFFFF"/>
                </a:solidFill>
                <a:latin typeface="Canva Sans Bold"/>
                <a:ea typeface="Canva Sans Bold"/>
                <a:cs typeface="Canva Sans Bold"/>
                <a:sym typeface="Canva Sans Bold"/>
              </a:rPr>
              <a:t>Side</a:t>
            </a:r>
          </a:p>
          <a:p>
            <a:pPr algn="ctr">
              <a:lnSpc>
                <a:spcPts val="4139"/>
              </a:lnSpc>
            </a:pPr>
            <a:r>
              <a:rPr lang="en-US" sz="2299" b="1" dirty="0">
                <a:solidFill>
                  <a:srgbClr val="FFFFFF"/>
                </a:solidFill>
                <a:latin typeface="Canva Sans Bold"/>
                <a:ea typeface="Canva Sans Bold"/>
                <a:cs typeface="Canva Sans Bold"/>
                <a:sym typeface="Canva Sans Bold"/>
              </a:rPr>
              <a:t>Dir</a:t>
            </a:r>
          </a:p>
        </p:txBody>
      </p:sp>
      <p:sp>
        <p:nvSpPr>
          <p:cNvPr id="31" name="TextBox 31"/>
          <p:cNvSpPr txBox="1"/>
          <p:nvPr/>
        </p:nvSpPr>
        <p:spPr>
          <a:xfrm>
            <a:off x="12158922" y="7290177"/>
            <a:ext cx="1046351" cy="1529716"/>
          </a:xfrm>
          <a:prstGeom prst="rect">
            <a:avLst/>
          </a:prstGeom>
          <a:solidFill>
            <a:srgbClr val="094955"/>
          </a:solidFill>
          <a:ln>
            <a:noFill/>
          </a:ln>
        </p:spPr>
        <p:txBody>
          <a:bodyPr lIns="0" tIns="0" rIns="0" bIns="0" rtlCol="0" anchor="t">
            <a:spAutoFit/>
          </a:bodyPr>
          <a:lstStyle/>
          <a:p>
            <a:pPr algn="ctr">
              <a:lnSpc>
                <a:spcPts val="4139"/>
              </a:lnSpc>
            </a:pPr>
            <a:r>
              <a:rPr lang="en-US" sz="2299" dirty="0">
                <a:solidFill>
                  <a:srgbClr val="FFFFFF"/>
                </a:solidFill>
                <a:latin typeface="Canva Sans"/>
                <a:ea typeface="Canva Sans"/>
                <a:cs typeface="Canva Sans"/>
                <a:sym typeface="Canva Sans"/>
              </a:rPr>
              <a:t>0.884</a:t>
            </a:r>
          </a:p>
          <a:p>
            <a:pPr algn="ctr">
              <a:lnSpc>
                <a:spcPts val="4139"/>
              </a:lnSpc>
            </a:pPr>
            <a:r>
              <a:rPr lang="en-US" sz="2299" dirty="0">
                <a:solidFill>
                  <a:srgbClr val="FFFFFF"/>
                </a:solidFill>
                <a:latin typeface="Canva Sans"/>
                <a:ea typeface="Canva Sans"/>
                <a:cs typeface="Canva Sans"/>
                <a:sym typeface="Canva Sans"/>
              </a:rPr>
              <a:t>0.852</a:t>
            </a:r>
          </a:p>
          <a:p>
            <a:pPr algn="ctr">
              <a:lnSpc>
                <a:spcPts val="4139"/>
              </a:lnSpc>
            </a:pPr>
            <a:r>
              <a:rPr lang="en-US" sz="2299" dirty="0">
                <a:solidFill>
                  <a:srgbClr val="FFFFFF"/>
                </a:solidFill>
                <a:latin typeface="Canva Sans"/>
                <a:ea typeface="Canva Sans"/>
                <a:cs typeface="Canva Sans"/>
                <a:sym typeface="Canva Sans"/>
              </a:rPr>
              <a:t>0.594</a:t>
            </a:r>
          </a:p>
        </p:txBody>
      </p:sp>
      <p:sp>
        <p:nvSpPr>
          <p:cNvPr id="32" name="TextBox 32"/>
          <p:cNvSpPr txBox="1"/>
          <p:nvPr/>
        </p:nvSpPr>
        <p:spPr>
          <a:xfrm>
            <a:off x="2990847" y="1088686"/>
            <a:ext cx="2331928" cy="273678"/>
          </a:xfrm>
          <a:prstGeom prst="rect">
            <a:avLst/>
          </a:prstGeom>
        </p:spPr>
        <p:txBody>
          <a:bodyPr lIns="0" tIns="0" rIns="0" bIns="0" rtlCol="0" anchor="t">
            <a:spAutoFit/>
          </a:bodyPr>
          <a:lstStyle/>
          <a:p>
            <a:pPr algn="ctr">
              <a:lnSpc>
                <a:spcPts val="2238"/>
              </a:lnSpc>
              <a:spcBef>
                <a:spcPct val="0"/>
              </a:spcBef>
            </a:pPr>
            <a:r>
              <a:rPr lang="en-US" sz="1598" spc="-103">
                <a:solidFill>
                  <a:srgbClr val="F6FAFD">
                    <a:alpha val="49804"/>
                  </a:srgbClr>
                </a:solidFill>
                <a:latin typeface="Open Sauce"/>
                <a:ea typeface="Open Sauce"/>
                <a:cs typeface="Open Sauce"/>
                <a:sym typeface="Open Sauce"/>
              </a:rPr>
              <a:t>HYBRID</a:t>
            </a:r>
          </a:p>
        </p:txBody>
      </p:sp>
      <p:sp>
        <p:nvSpPr>
          <p:cNvPr id="33" name="TextBox 33"/>
          <p:cNvSpPr txBox="1"/>
          <p:nvPr/>
        </p:nvSpPr>
        <p:spPr>
          <a:xfrm>
            <a:off x="6124641" y="1099103"/>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SPATIAL ATTENTION</a:t>
            </a:r>
          </a:p>
        </p:txBody>
      </p:sp>
      <p:sp>
        <p:nvSpPr>
          <p:cNvPr id="34" name="TextBox 34"/>
          <p:cNvSpPr txBox="1"/>
          <p:nvPr/>
        </p:nvSpPr>
        <p:spPr>
          <a:xfrm>
            <a:off x="9155828" y="1099103"/>
            <a:ext cx="2497694" cy="273678"/>
          </a:xfrm>
          <a:prstGeom prst="rect">
            <a:avLst/>
          </a:prstGeom>
        </p:spPr>
        <p:txBody>
          <a:bodyPr lIns="0" tIns="0" rIns="0" bIns="0" rtlCol="0" anchor="t">
            <a:spAutoFit/>
          </a:bodyPr>
          <a:lstStyle/>
          <a:p>
            <a:pPr algn="ctr">
              <a:lnSpc>
                <a:spcPts val="2238"/>
              </a:lnSpc>
              <a:spcBef>
                <a:spcPct val="0"/>
              </a:spcBef>
            </a:pPr>
            <a:r>
              <a:rPr lang="en-US" sz="1598" b="1" spc="-103" dirty="0">
                <a:solidFill>
                  <a:srgbClr val="F6FAFD">
                    <a:alpha val="49804"/>
                  </a:srgbClr>
                </a:solidFill>
                <a:latin typeface="Open Sauce Bold"/>
                <a:ea typeface="Open Sauce Bold"/>
                <a:cs typeface="Open Sauce Bold"/>
                <a:sym typeface="Open Sauce Bold"/>
              </a:rPr>
              <a:t>EVALUATION</a:t>
            </a:r>
          </a:p>
        </p:txBody>
      </p:sp>
      <p:sp>
        <p:nvSpPr>
          <p:cNvPr id="35" name="TextBox 35"/>
          <p:cNvSpPr txBox="1"/>
          <p:nvPr/>
        </p:nvSpPr>
        <p:spPr>
          <a:xfrm>
            <a:off x="12001459" y="1206475"/>
            <a:ext cx="2992613" cy="379712"/>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FINE TUNING</a:t>
            </a:r>
          </a:p>
        </p:txBody>
      </p:sp>
      <p:sp>
        <p:nvSpPr>
          <p:cNvPr id="36" name="TextBox 36"/>
          <p:cNvSpPr txBox="1"/>
          <p:nvPr/>
        </p:nvSpPr>
        <p:spPr>
          <a:xfrm>
            <a:off x="15333335" y="1099103"/>
            <a:ext cx="2497694" cy="549867"/>
          </a:xfrm>
          <a:prstGeom prst="rect">
            <a:avLst/>
          </a:prstGeom>
        </p:spPr>
        <p:txBody>
          <a:bodyPr lIns="0" tIns="0" rIns="0" bIns="0" rtlCol="0" anchor="t">
            <a:spAutoFit/>
          </a:bodyPr>
          <a:lstStyle/>
          <a:p>
            <a:pPr algn="ctr">
              <a:lnSpc>
                <a:spcPts val="2238"/>
              </a:lnSpc>
            </a:pPr>
            <a:r>
              <a:rPr lang="en-US" sz="1598" b="1" spc="-103">
                <a:solidFill>
                  <a:srgbClr val="F6FAFD">
                    <a:alpha val="49804"/>
                  </a:srgbClr>
                </a:solidFill>
                <a:latin typeface="Open Sauce Bold"/>
                <a:ea typeface="Open Sauce Bold"/>
                <a:cs typeface="Open Sauce Bold"/>
                <a:sym typeface="Open Sauce Bold"/>
              </a:rPr>
              <a:t>FUTURE </a:t>
            </a:r>
          </a:p>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PERSPECTIVES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Freeform 2"/>
          <p:cNvSpPr/>
          <p:nvPr/>
        </p:nvSpPr>
        <p:spPr>
          <a:xfrm>
            <a:off x="13402818"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3" name="TextBox 3"/>
          <p:cNvSpPr txBox="1"/>
          <p:nvPr/>
        </p:nvSpPr>
        <p:spPr>
          <a:xfrm>
            <a:off x="12482229" y="1108628"/>
            <a:ext cx="2031072"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FINE TUNING</a:t>
            </a:r>
          </a:p>
        </p:txBody>
      </p:sp>
      <p:sp>
        <p:nvSpPr>
          <p:cNvPr id="4" name="Freeform 4"/>
          <p:cNvSpPr/>
          <p:nvPr/>
        </p:nvSpPr>
        <p:spPr>
          <a:xfrm>
            <a:off x="933279"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5" name="TextBox 5"/>
          <p:cNvSpPr txBox="1"/>
          <p:nvPr/>
        </p:nvSpPr>
        <p:spPr>
          <a:xfrm>
            <a:off x="15085875" y="1206475"/>
            <a:ext cx="2992613" cy="779744"/>
          </a:xfrm>
          <a:prstGeom prst="rect">
            <a:avLst/>
          </a:prstGeom>
        </p:spPr>
        <p:txBody>
          <a:bodyPr lIns="0" tIns="0" rIns="0" bIns="0" rtlCol="0" anchor="t">
            <a:spAutoFit/>
          </a:bodyPr>
          <a:lstStyle/>
          <a:p>
            <a:pPr algn="ctr">
              <a:lnSpc>
                <a:spcPts val="3220"/>
              </a:lnSpc>
              <a:spcBef>
                <a:spcPct val="0"/>
              </a:spcBef>
            </a:pPr>
            <a:r>
              <a:rPr lang="en-US" sz="2300" b="1" spc="-149">
                <a:solidFill>
                  <a:srgbClr val="F6FAFD"/>
                </a:solidFill>
                <a:latin typeface="Open Sauce Bold"/>
                <a:ea typeface="Open Sauce Bold"/>
                <a:cs typeface="Open Sauce Bold"/>
                <a:sym typeface="Open Sauce Bold"/>
              </a:rPr>
              <a:t>FUTURE PERSPECTIVES</a:t>
            </a:r>
          </a:p>
        </p:txBody>
      </p:sp>
      <p:sp>
        <p:nvSpPr>
          <p:cNvPr id="6" name="Freeform 6"/>
          <p:cNvSpPr/>
          <p:nvPr/>
        </p:nvSpPr>
        <p:spPr>
          <a:xfrm>
            <a:off x="4061863"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7" name="Freeform 7"/>
          <p:cNvSpPr/>
          <p:nvPr/>
        </p:nvSpPr>
        <p:spPr>
          <a:xfrm>
            <a:off x="2820676"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8" name="Freeform 8"/>
          <p:cNvSpPr/>
          <p:nvPr/>
        </p:nvSpPr>
        <p:spPr>
          <a:xfrm>
            <a:off x="16322523" y="607469"/>
            <a:ext cx="519317" cy="519317"/>
          </a:xfrm>
          <a:custGeom>
            <a:avLst/>
            <a:gdLst/>
            <a:ahLst/>
            <a:cxnLst/>
            <a:rect l="l" t="t" r="r" b="b"/>
            <a:pathLst>
              <a:path w="519317" h="519317">
                <a:moveTo>
                  <a:pt x="0" y="0"/>
                </a:moveTo>
                <a:lnTo>
                  <a:pt x="519317" y="0"/>
                </a:lnTo>
                <a:lnTo>
                  <a:pt x="519317" y="519317"/>
                </a:lnTo>
                <a:lnTo>
                  <a:pt x="0" y="5193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it-IT"/>
          </a:p>
        </p:txBody>
      </p:sp>
      <p:sp>
        <p:nvSpPr>
          <p:cNvPr id="9" name="TextBox 9"/>
          <p:cNvSpPr txBox="1"/>
          <p:nvPr/>
        </p:nvSpPr>
        <p:spPr>
          <a:xfrm>
            <a:off x="2990847" y="1088686"/>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HYBRID</a:t>
            </a:r>
          </a:p>
        </p:txBody>
      </p:sp>
      <p:sp>
        <p:nvSpPr>
          <p:cNvPr id="10" name="Freeform 10"/>
          <p:cNvSpPr/>
          <p:nvPr/>
        </p:nvSpPr>
        <p:spPr>
          <a:xfrm>
            <a:off x="1876977" y="772180"/>
            <a:ext cx="189895" cy="189895"/>
          </a:xfrm>
          <a:custGeom>
            <a:avLst/>
            <a:gdLst/>
            <a:ahLst/>
            <a:cxnLst/>
            <a:rect l="l" t="t" r="r" b="b"/>
            <a:pathLst>
              <a:path w="189895" h="189895">
                <a:moveTo>
                  <a:pt x="0" y="0"/>
                </a:moveTo>
                <a:lnTo>
                  <a:pt x="189896" y="0"/>
                </a:lnTo>
                <a:lnTo>
                  <a:pt x="189896"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1" name="Freeform 11"/>
          <p:cNvSpPr/>
          <p:nvPr/>
        </p:nvSpPr>
        <p:spPr>
          <a:xfrm>
            <a:off x="1401332"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2" name="AutoShape 12"/>
          <p:cNvSpPr/>
          <p:nvPr/>
        </p:nvSpPr>
        <p:spPr>
          <a:xfrm>
            <a:off x="644860" y="867166"/>
            <a:ext cx="16998280" cy="0"/>
          </a:xfrm>
          <a:prstGeom prst="line">
            <a:avLst/>
          </a:prstGeom>
          <a:ln w="19050" cap="flat">
            <a:solidFill>
              <a:srgbClr val="F6FAFD"/>
            </a:solidFill>
            <a:prstDash val="solid"/>
            <a:headEnd type="none" w="sm" len="sm"/>
            <a:tailEnd type="none" w="sm" len="sm"/>
          </a:ln>
        </p:spPr>
        <p:txBody>
          <a:bodyPr/>
          <a:lstStyle/>
          <a:p>
            <a:endParaRPr lang="it-IT"/>
          </a:p>
        </p:txBody>
      </p:sp>
      <p:sp>
        <p:nvSpPr>
          <p:cNvPr id="13" name="Freeform 13"/>
          <p:cNvSpPr/>
          <p:nvPr/>
        </p:nvSpPr>
        <p:spPr>
          <a:xfrm>
            <a:off x="10309727"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4" name="Freeform 14"/>
          <p:cNvSpPr/>
          <p:nvPr/>
        </p:nvSpPr>
        <p:spPr>
          <a:xfrm>
            <a:off x="7195657" y="772180"/>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5" name="TextBox 15"/>
          <p:cNvSpPr txBox="1"/>
          <p:nvPr/>
        </p:nvSpPr>
        <p:spPr>
          <a:xfrm>
            <a:off x="6124641" y="1099103"/>
            <a:ext cx="2331928" cy="273678"/>
          </a:xfrm>
          <a:prstGeom prst="rect">
            <a:avLst/>
          </a:prstGeom>
        </p:spPr>
        <p:txBody>
          <a:bodyPr lIns="0" tIns="0" rIns="0" bIns="0" rtlCol="0" anchor="t">
            <a:spAutoFit/>
          </a:bodyPr>
          <a:lstStyle/>
          <a:p>
            <a:pPr algn="ctr">
              <a:lnSpc>
                <a:spcPts val="2238"/>
              </a:lnSpc>
              <a:spcBef>
                <a:spcPct val="0"/>
              </a:spcBef>
            </a:pPr>
            <a:r>
              <a:rPr lang="en-US" sz="1598" b="1" spc="-103">
                <a:solidFill>
                  <a:srgbClr val="F6FAFD">
                    <a:alpha val="49804"/>
                  </a:srgbClr>
                </a:solidFill>
                <a:latin typeface="Open Sauce Bold"/>
                <a:ea typeface="Open Sauce Bold"/>
                <a:cs typeface="Open Sauce Bold"/>
                <a:sym typeface="Open Sauce Bold"/>
              </a:rPr>
              <a:t>SPATIAL ATTENTION</a:t>
            </a:r>
          </a:p>
        </p:txBody>
      </p:sp>
      <p:sp>
        <p:nvSpPr>
          <p:cNvPr id="16" name="TextBox 16"/>
          <p:cNvSpPr txBox="1"/>
          <p:nvPr/>
        </p:nvSpPr>
        <p:spPr>
          <a:xfrm>
            <a:off x="9155828" y="1099103"/>
            <a:ext cx="2497694" cy="258661"/>
          </a:xfrm>
          <a:prstGeom prst="rect">
            <a:avLst/>
          </a:prstGeom>
        </p:spPr>
        <p:txBody>
          <a:bodyPr lIns="0" tIns="0" rIns="0" bIns="0" rtlCol="0" anchor="t">
            <a:spAutoFit/>
          </a:bodyPr>
          <a:lstStyle/>
          <a:p>
            <a:pPr algn="ctr">
              <a:lnSpc>
                <a:spcPts val="2238"/>
              </a:lnSpc>
              <a:spcBef>
                <a:spcPct val="0"/>
              </a:spcBef>
            </a:pPr>
            <a:r>
              <a:rPr lang="en-US" sz="1598" b="1" spc="-103" dirty="0">
                <a:solidFill>
                  <a:srgbClr val="F6FAFD">
                    <a:alpha val="49804"/>
                  </a:srgbClr>
                </a:solidFill>
                <a:latin typeface="Open Sauce Bold"/>
                <a:ea typeface="Open Sauce Bold"/>
                <a:cs typeface="Open Sauce Bold"/>
                <a:sym typeface="Open Sauce Bold"/>
              </a:rPr>
              <a:t>EVALUATION</a:t>
            </a:r>
          </a:p>
        </p:txBody>
      </p:sp>
      <p:sp>
        <p:nvSpPr>
          <p:cNvPr id="17" name="Freeform 17"/>
          <p:cNvSpPr/>
          <p:nvPr/>
        </p:nvSpPr>
        <p:spPr>
          <a:xfrm>
            <a:off x="16487234" y="762694"/>
            <a:ext cx="189895" cy="189895"/>
          </a:xfrm>
          <a:custGeom>
            <a:avLst/>
            <a:gdLst/>
            <a:ahLst/>
            <a:cxnLst/>
            <a:rect l="l" t="t" r="r" b="b"/>
            <a:pathLst>
              <a:path w="189895" h="189895">
                <a:moveTo>
                  <a:pt x="0" y="0"/>
                </a:moveTo>
                <a:lnTo>
                  <a:pt x="189895" y="0"/>
                </a:lnTo>
                <a:lnTo>
                  <a:pt x="189895" y="189895"/>
                </a:lnTo>
                <a:lnTo>
                  <a:pt x="0" y="189895"/>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8" name="TextBox 18"/>
          <p:cNvSpPr txBox="1"/>
          <p:nvPr/>
        </p:nvSpPr>
        <p:spPr>
          <a:xfrm>
            <a:off x="1028700" y="2527142"/>
            <a:ext cx="16230600" cy="5189620"/>
          </a:xfrm>
          <a:prstGeom prst="rect">
            <a:avLst/>
          </a:prstGeom>
        </p:spPr>
        <p:txBody>
          <a:bodyPr lIns="0" tIns="0" rIns="0" bIns="0" rtlCol="0" anchor="t">
            <a:spAutoFit/>
          </a:bodyPr>
          <a:lstStyle/>
          <a:p>
            <a:pPr algn="l">
              <a:lnSpc>
                <a:spcPts val="3219"/>
              </a:lnSpc>
            </a:pPr>
            <a:r>
              <a:rPr lang="en-US" sz="2299" b="1" spc="-45">
                <a:solidFill>
                  <a:srgbClr val="F6FAFD"/>
                </a:solidFill>
                <a:latin typeface="Open Sauce Bold"/>
                <a:ea typeface="Open Sauce Bold"/>
                <a:cs typeface="Open Sauce Bold"/>
                <a:sym typeface="Open Sauce Bold"/>
              </a:rPr>
              <a:t>INCREASED TRAINING DATA</a:t>
            </a:r>
          </a:p>
          <a:p>
            <a:pPr algn="l">
              <a:lnSpc>
                <a:spcPts val="3219"/>
              </a:lnSpc>
            </a:pPr>
            <a:endParaRPr lang="en-US" sz="2299" b="1" spc="-45">
              <a:solidFill>
                <a:srgbClr val="F6FAFD"/>
              </a:solidFill>
              <a:latin typeface="Open Sauce Bold"/>
              <a:ea typeface="Open Sauce Bold"/>
              <a:cs typeface="Open Sauce Bold"/>
              <a:sym typeface="Open Sauce Bold"/>
            </a:endParaRP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Overfitting on the direction task observed during fine-tuning, where validation loss diverged from training loss</a:t>
            </a: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Limited boat diversity, currently restricted to ILCA and Optimist only</a:t>
            </a: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Coarse point-of-sail taxonomy, currently collapsed into three categories instead of the full six classic points of sail</a:t>
            </a:r>
          </a:p>
          <a:p>
            <a:pPr algn="l">
              <a:lnSpc>
                <a:spcPts val="3219"/>
              </a:lnSpc>
            </a:pPr>
            <a:endParaRPr lang="en-US" sz="2299" spc="-45">
              <a:solidFill>
                <a:srgbClr val="F6FAFD"/>
              </a:solidFill>
              <a:latin typeface="Open Sauce"/>
              <a:ea typeface="Open Sauce"/>
              <a:cs typeface="Open Sauce"/>
              <a:sym typeface="Open Sauce"/>
            </a:endParaRPr>
          </a:p>
          <a:p>
            <a:pPr algn="l">
              <a:lnSpc>
                <a:spcPts val="3219"/>
              </a:lnSpc>
            </a:pPr>
            <a:r>
              <a:rPr lang="en-US" sz="2299" b="1" spc="-45">
                <a:solidFill>
                  <a:srgbClr val="F6FAFD"/>
                </a:solidFill>
                <a:latin typeface="Open Sauce Bold"/>
                <a:ea typeface="Open Sauce Bold"/>
                <a:cs typeface="Open Sauce Bold"/>
                <a:sym typeface="Open Sauce Bold"/>
              </a:rPr>
              <a:t>Temporal Modeling (Video-Level Analysis)</a:t>
            </a:r>
          </a:p>
          <a:p>
            <a:pPr algn="l">
              <a:lnSpc>
                <a:spcPts val="3219"/>
              </a:lnSpc>
            </a:pPr>
            <a:endParaRPr lang="en-US" sz="2299" b="1" spc="-45">
              <a:solidFill>
                <a:srgbClr val="F6FAFD"/>
              </a:solidFill>
              <a:latin typeface="Open Sauce Bold"/>
              <a:ea typeface="Open Sauce Bold"/>
              <a:cs typeface="Open Sauce Bold"/>
              <a:sym typeface="Open Sauce Bold"/>
            </a:endParaRP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Frame-level independence, which ignores the motion and continuity inherent in maneuvers like tacks and gybes</a:t>
            </a: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Frame-level noise/flicker in predictions, since each frame is classified in isolation</a:t>
            </a:r>
          </a:p>
          <a:p>
            <a:pPr marL="496567" lvl="1" indent="-248284" algn="l">
              <a:lnSpc>
                <a:spcPts val="3219"/>
              </a:lnSpc>
              <a:buFont typeface="Arial"/>
              <a:buChar char="•"/>
            </a:pPr>
            <a:r>
              <a:rPr lang="en-US" sz="2299" spc="-45">
                <a:solidFill>
                  <a:srgbClr val="F6FAFD"/>
                </a:solidFill>
                <a:latin typeface="Open Sauce"/>
                <a:ea typeface="Open Sauce"/>
                <a:cs typeface="Open Sauce"/>
                <a:sym typeface="Open Sauce"/>
              </a:rPr>
              <a:t>Difficulty disambiguating borderline points of sail that are hard to identify from a single static frame but clearer when observed over a sequence</a:t>
            </a:r>
          </a:p>
          <a:p>
            <a:pPr marL="0" lvl="0" indent="0" algn="l">
              <a:lnSpc>
                <a:spcPts val="3219"/>
              </a:lnSpc>
              <a:spcBef>
                <a:spcPct val="0"/>
              </a:spcBef>
            </a:pPr>
            <a:endParaRPr lang="en-US" sz="2299" spc="-45">
              <a:solidFill>
                <a:srgbClr val="F6FAFD"/>
              </a:solidFill>
              <a:latin typeface="Open Sauce"/>
              <a:ea typeface="Open Sauce"/>
              <a:cs typeface="Open Sauce"/>
              <a:sym typeface="Open Sauce"/>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2" name="TextBox 2"/>
          <p:cNvSpPr txBox="1"/>
          <p:nvPr/>
        </p:nvSpPr>
        <p:spPr>
          <a:xfrm>
            <a:off x="1028700" y="2307569"/>
            <a:ext cx="8760941" cy="615914"/>
          </a:xfrm>
          <a:prstGeom prst="rect">
            <a:avLst/>
          </a:prstGeom>
        </p:spPr>
        <p:txBody>
          <a:bodyPr lIns="0" tIns="0" rIns="0" bIns="0" rtlCol="0" anchor="t">
            <a:spAutoFit/>
          </a:bodyPr>
          <a:lstStyle/>
          <a:p>
            <a:pPr algn="l">
              <a:lnSpc>
                <a:spcPts val="4450"/>
              </a:lnSpc>
            </a:pPr>
            <a:r>
              <a:rPr lang="en-US" sz="5000" b="1" spc="-70">
                <a:solidFill>
                  <a:srgbClr val="F6FAFD"/>
                </a:solidFill>
                <a:latin typeface="Open Sauce Heavy"/>
                <a:ea typeface="Open Sauce Heavy"/>
                <a:cs typeface="Open Sauce Heavy"/>
                <a:sym typeface="Open Sauce Heavy"/>
              </a:rPr>
              <a:t>CITATIONS</a:t>
            </a:r>
          </a:p>
        </p:txBody>
      </p:sp>
      <p:sp>
        <p:nvSpPr>
          <p:cNvPr id="3" name="TextBox 3"/>
          <p:cNvSpPr txBox="1"/>
          <p:nvPr/>
        </p:nvSpPr>
        <p:spPr>
          <a:xfrm>
            <a:off x="1028700" y="3268616"/>
            <a:ext cx="13612988" cy="3658502"/>
          </a:xfrm>
          <a:prstGeom prst="rect">
            <a:avLst/>
          </a:prstGeom>
        </p:spPr>
        <p:txBody>
          <a:bodyPr lIns="0" tIns="0" rIns="0" bIns="0" rtlCol="0" anchor="t">
            <a:spAutoFit/>
          </a:bodyPr>
          <a:lstStyle/>
          <a:p>
            <a:pPr algn="l">
              <a:lnSpc>
                <a:spcPts val="3219"/>
              </a:lnSpc>
            </a:pPr>
            <a:r>
              <a:rPr lang="en-US" sz="2299" spc="-45" dirty="0">
                <a:solidFill>
                  <a:srgbClr val="F6FAFD"/>
                </a:solidFill>
                <a:latin typeface="Open Sauce"/>
                <a:ea typeface="Open Sauce"/>
                <a:cs typeface="Open Sauce"/>
                <a:sym typeface="Open Sauce"/>
              </a:rPr>
              <a:t>[1] </a:t>
            </a:r>
            <a:r>
              <a:rPr lang="en-US" sz="2299" spc="-45" dirty="0" err="1">
                <a:solidFill>
                  <a:srgbClr val="F6FAFD"/>
                </a:solidFill>
                <a:latin typeface="Open Sauce"/>
                <a:ea typeface="Open Sauce"/>
                <a:cs typeface="Open Sauce"/>
                <a:sym typeface="Open Sauce"/>
              </a:rPr>
              <a:t>Buslaev</a:t>
            </a:r>
            <a:r>
              <a:rPr lang="en-US" sz="2299" spc="-45" dirty="0">
                <a:solidFill>
                  <a:srgbClr val="F6FAFD"/>
                </a:solidFill>
                <a:latin typeface="Open Sauce"/>
                <a:ea typeface="Open Sauce"/>
                <a:cs typeface="Open Sauce"/>
                <a:sym typeface="Open Sauce"/>
              </a:rPr>
              <a:t> et al. 2018, “</a:t>
            </a:r>
            <a:r>
              <a:rPr lang="en-US" sz="2299" spc="-45" dirty="0" err="1">
                <a:solidFill>
                  <a:srgbClr val="F6FAFD"/>
                </a:solidFill>
                <a:latin typeface="Open Sauce"/>
                <a:ea typeface="Open Sauce"/>
                <a:cs typeface="Open Sauce"/>
                <a:sym typeface="Open Sauce"/>
              </a:rPr>
              <a:t>Albumentations</a:t>
            </a:r>
            <a:r>
              <a:rPr lang="en-US" sz="2299" spc="-45" dirty="0">
                <a:solidFill>
                  <a:srgbClr val="F6FAFD"/>
                </a:solidFill>
                <a:latin typeface="Open Sauce"/>
                <a:ea typeface="Open Sauce"/>
                <a:cs typeface="Open Sauce"/>
                <a:sym typeface="Open Sauce"/>
              </a:rPr>
              <a:t>: fast and flexible image augmentations”</a:t>
            </a:r>
          </a:p>
          <a:p>
            <a:pPr algn="l">
              <a:lnSpc>
                <a:spcPts val="3219"/>
              </a:lnSpc>
            </a:pPr>
            <a:r>
              <a:rPr lang="en-US" sz="2299" spc="-45" dirty="0">
                <a:solidFill>
                  <a:srgbClr val="F6FAFD"/>
                </a:solidFill>
                <a:latin typeface="Open Sauce"/>
                <a:ea typeface="Open Sauce"/>
                <a:cs typeface="Open Sauce"/>
                <a:sym typeface="Open Sauce"/>
              </a:rPr>
              <a:t>[2] Lin et al. 2017, “Focal Loss for Dense Object Detection”</a:t>
            </a:r>
          </a:p>
          <a:p>
            <a:pPr algn="l">
              <a:lnSpc>
                <a:spcPts val="3219"/>
              </a:lnSpc>
            </a:pPr>
            <a:r>
              <a:rPr lang="en-US" sz="2299" spc="-45" dirty="0">
                <a:solidFill>
                  <a:srgbClr val="F6FAFD"/>
                </a:solidFill>
                <a:latin typeface="Open Sauce"/>
                <a:ea typeface="Open Sauce"/>
                <a:cs typeface="Open Sauce"/>
                <a:sym typeface="Open Sauce"/>
              </a:rPr>
              <a:t>[3] Szegedy et al. 2016, “Rethinking the Inception Architecture”</a:t>
            </a:r>
          </a:p>
          <a:p>
            <a:pPr algn="l">
              <a:lnSpc>
                <a:spcPts val="3219"/>
              </a:lnSpc>
            </a:pPr>
            <a:r>
              <a:rPr lang="en-US" sz="2299" spc="-45" dirty="0">
                <a:solidFill>
                  <a:srgbClr val="F6FAFD"/>
                </a:solidFill>
                <a:latin typeface="Open Sauce"/>
                <a:ea typeface="Open Sauce"/>
                <a:cs typeface="Open Sauce"/>
                <a:sym typeface="Open Sauce"/>
              </a:rPr>
              <a:t>[4] </a:t>
            </a:r>
            <a:r>
              <a:rPr lang="en-US" sz="2299" spc="-45" dirty="0" err="1">
                <a:solidFill>
                  <a:srgbClr val="F6FAFD"/>
                </a:solidFill>
                <a:latin typeface="Open Sauce"/>
                <a:ea typeface="Open Sauce"/>
                <a:cs typeface="Open Sauce"/>
                <a:sym typeface="Open Sauce"/>
              </a:rPr>
              <a:t>Mingxing</a:t>
            </a:r>
            <a:r>
              <a:rPr lang="en-US" sz="2299" spc="-45" dirty="0">
                <a:solidFill>
                  <a:srgbClr val="F6FAFD"/>
                </a:solidFill>
                <a:latin typeface="Open Sauce"/>
                <a:ea typeface="Open Sauce"/>
                <a:cs typeface="Open Sauce"/>
                <a:sym typeface="Open Sauce"/>
              </a:rPr>
              <a:t> Tan et al. 2021, “EfficientNetV2: Smaller Models and Faster Training”</a:t>
            </a:r>
          </a:p>
          <a:p>
            <a:pPr algn="l">
              <a:lnSpc>
                <a:spcPts val="3219"/>
              </a:lnSpc>
            </a:pPr>
            <a:r>
              <a:rPr lang="en-US" sz="2299" spc="-45" dirty="0">
                <a:solidFill>
                  <a:srgbClr val="F6FAFD"/>
                </a:solidFill>
                <a:latin typeface="Open Sauce"/>
                <a:ea typeface="Open Sauce"/>
                <a:cs typeface="Open Sauce"/>
                <a:sym typeface="Open Sauce"/>
              </a:rPr>
              <a:t>[5] Sebastian Ruder et al. 2017, “An Overview of Multi-Task Learning in Deep Neural Networks”</a:t>
            </a:r>
          </a:p>
          <a:p>
            <a:pPr algn="l">
              <a:lnSpc>
                <a:spcPts val="3219"/>
              </a:lnSpc>
            </a:pPr>
            <a:r>
              <a:rPr lang="en-US" sz="2299" spc="-45" dirty="0">
                <a:solidFill>
                  <a:srgbClr val="F6FAFD"/>
                </a:solidFill>
                <a:latin typeface="Open Sauce"/>
                <a:ea typeface="Open Sauce"/>
                <a:cs typeface="Open Sauce"/>
                <a:sym typeface="Open Sauce"/>
              </a:rPr>
              <a:t>[6] </a:t>
            </a:r>
            <a:r>
              <a:rPr lang="en-US" sz="2299" spc="-45" dirty="0" err="1">
                <a:solidFill>
                  <a:srgbClr val="F6FAFD"/>
                </a:solidFill>
                <a:latin typeface="Open Sauce"/>
                <a:ea typeface="Open Sauce"/>
                <a:cs typeface="Open Sauce"/>
                <a:sym typeface="Open Sauce"/>
              </a:rPr>
              <a:t>Sanghyun</a:t>
            </a:r>
            <a:r>
              <a:rPr lang="en-US" sz="2299" spc="-45" dirty="0">
                <a:solidFill>
                  <a:srgbClr val="F6FAFD"/>
                </a:solidFill>
                <a:latin typeface="Open Sauce"/>
                <a:ea typeface="Open Sauce"/>
                <a:cs typeface="Open Sauce"/>
                <a:sym typeface="Open Sauce"/>
              </a:rPr>
              <a:t> Woo et al. 2018, “CBAM: Convolutional Block Attention Module”</a:t>
            </a:r>
          </a:p>
          <a:p>
            <a:pPr algn="l">
              <a:lnSpc>
                <a:spcPts val="3219"/>
              </a:lnSpc>
            </a:pPr>
            <a:endParaRPr lang="en-US" sz="2299" spc="-45" dirty="0">
              <a:solidFill>
                <a:srgbClr val="F6FAFD"/>
              </a:solidFill>
              <a:latin typeface="Open Sauce"/>
              <a:ea typeface="Open Sauce"/>
              <a:cs typeface="Open Sauce"/>
              <a:sym typeface="Open Sauce"/>
            </a:endParaRPr>
          </a:p>
          <a:p>
            <a:pPr algn="l">
              <a:lnSpc>
                <a:spcPts val="3219"/>
              </a:lnSpc>
            </a:pPr>
            <a:endParaRPr lang="en-US" sz="2299" spc="-45" dirty="0">
              <a:solidFill>
                <a:srgbClr val="F6FAFD"/>
              </a:solidFill>
              <a:latin typeface="Open Sauce"/>
              <a:ea typeface="Open Sauce"/>
              <a:cs typeface="Open Sauce"/>
              <a:sym typeface="Open Sauce"/>
            </a:endParaRPr>
          </a:p>
          <a:p>
            <a:pPr algn="l">
              <a:lnSpc>
                <a:spcPts val="3219"/>
              </a:lnSpc>
            </a:pPr>
            <a:endParaRPr lang="en-US" sz="2299" spc="-45" dirty="0">
              <a:solidFill>
                <a:srgbClr val="F6FAFD"/>
              </a:solidFill>
              <a:latin typeface="Open Sauce"/>
              <a:ea typeface="Open Sauce"/>
              <a:cs typeface="Open Sauce"/>
              <a:sym typeface="Open Sauce"/>
            </a:endParaRPr>
          </a:p>
        </p:txBody>
      </p:sp>
      <p:grpSp>
        <p:nvGrpSpPr>
          <p:cNvPr id="4" name="Group 4"/>
          <p:cNvGrpSpPr/>
          <p:nvPr/>
        </p:nvGrpSpPr>
        <p:grpSpPr>
          <a:xfrm>
            <a:off x="16410549" y="8084573"/>
            <a:ext cx="1877451" cy="1681398"/>
            <a:chOff x="0" y="0"/>
            <a:chExt cx="494473" cy="442837"/>
          </a:xfrm>
        </p:grpSpPr>
        <p:sp>
          <p:nvSpPr>
            <p:cNvPr id="5" name="Freeform 5"/>
            <p:cNvSpPr/>
            <p:nvPr/>
          </p:nvSpPr>
          <p:spPr>
            <a:xfrm>
              <a:off x="0" y="0"/>
              <a:ext cx="494473" cy="442837"/>
            </a:xfrm>
            <a:custGeom>
              <a:avLst/>
              <a:gdLst/>
              <a:ahLst/>
              <a:cxnLst/>
              <a:rect l="l" t="t" r="r" b="b"/>
              <a:pathLst>
                <a:path w="494473" h="442837">
                  <a:moveTo>
                    <a:pt x="0" y="0"/>
                  </a:moveTo>
                  <a:lnTo>
                    <a:pt x="494473" y="0"/>
                  </a:lnTo>
                  <a:lnTo>
                    <a:pt x="494473" y="442837"/>
                  </a:lnTo>
                  <a:lnTo>
                    <a:pt x="0" y="442837"/>
                  </a:lnTo>
                  <a:close/>
                </a:path>
              </a:pathLst>
            </a:custGeom>
            <a:solidFill>
              <a:srgbClr val="094955"/>
            </a:solidFill>
          </p:spPr>
          <p:txBody>
            <a:bodyPr/>
            <a:lstStyle/>
            <a:p>
              <a:endParaRPr lang="it-IT"/>
            </a:p>
          </p:txBody>
        </p:sp>
        <p:sp>
          <p:nvSpPr>
            <p:cNvPr id="6" name="TextBox 6"/>
            <p:cNvSpPr txBox="1"/>
            <p:nvPr/>
          </p:nvSpPr>
          <p:spPr>
            <a:xfrm>
              <a:off x="0" y="-38100"/>
              <a:ext cx="494473" cy="480937"/>
            </a:xfrm>
            <a:prstGeom prst="rect">
              <a:avLst/>
            </a:prstGeom>
          </p:spPr>
          <p:txBody>
            <a:bodyPr lIns="50800" tIns="50800" rIns="50800" bIns="50800" rtlCol="0" anchor="ctr"/>
            <a:lstStyle/>
            <a:p>
              <a:pPr algn="ctr">
                <a:lnSpc>
                  <a:spcPts val="2238"/>
                </a:lnSpc>
              </a:pPr>
              <a:endParaRPr/>
            </a:p>
          </p:txBody>
        </p:sp>
      </p:grpSp>
      <p:sp>
        <p:nvSpPr>
          <p:cNvPr id="7" name="Freeform 7"/>
          <p:cNvSpPr/>
          <p:nvPr/>
        </p:nvSpPr>
        <p:spPr>
          <a:xfrm>
            <a:off x="16220654" y="8321761"/>
            <a:ext cx="1183965" cy="831021"/>
          </a:xfrm>
          <a:custGeom>
            <a:avLst/>
            <a:gdLst/>
            <a:ahLst/>
            <a:cxnLst/>
            <a:rect l="l" t="t" r="r" b="b"/>
            <a:pathLst>
              <a:path w="1183965" h="831021">
                <a:moveTo>
                  <a:pt x="0" y="0"/>
                </a:moveTo>
                <a:lnTo>
                  <a:pt x="1183965" y="0"/>
                </a:lnTo>
                <a:lnTo>
                  <a:pt x="1183965" y="831021"/>
                </a:lnTo>
                <a:lnTo>
                  <a:pt x="0" y="8310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it-IT"/>
          </a:p>
        </p:txBody>
      </p:sp>
      <p:sp>
        <p:nvSpPr>
          <p:cNvPr id="8" name="AutoShape 8"/>
          <p:cNvSpPr/>
          <p:nvPr/>
        </p:nvSpPr>
        <p:spPr>
          <a:xfrm>
            <a:off x="1028700" y="8925272"/>
            <a:ext cx="15191954" cy="0"/>
          </a:xfrm>
          <a:prstGeom prst="line">
            <a:avLst/>
          </a:prstGeom>
          <a:ln w="19050" cap="flat">
            <a:solidFill>
              <a:srgbClr val="F6FAFD"/>
            </a:solidFill>
            <a:prstDash val="solid"/>
            <a:headEnd type="none" w="sm" len="sm"/>
            <a:tailEnd type="none" w="sm" len="sm"/>
          </a:ln>
        </p:spPr>
        <p:txBody>
          <a:bodyPr/>
          <a:lstStyle/>
          <a:p>
            <a:endParaRPr lang="it-IT"/>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4955"/>
        </a:solidFill>
        <a:effectLst/>
      </p:bgPr>
    </p:bg>
    <p:spTree>
      <p:nvGrpSpPr>
        <p:cNvPr id="1" name=""/>
        <p:cNvGrpSpPr/>
        <p:nvPr/>
      </p:nvGrpSpPr>
      <p:grpSpPr>
        <a:xfrm>
          <a:off x="0" y="0"/>
          <a:ext cx="0" cy="0"/>
          <a:chOff x="0" y="0"/>
          <a:chExt cx="0" cy="0"/>
        </a:xfrm>
      </p:grpSpPr>
      <p:sp>
        <p:nvSpPr>
          <p:cNvPr id="7" name="TextBox 7"/>
          <p:cNvSpPr txBox="1"/>
          <p:nvPr/>
        </p:nvSpPr>
        <p:spPr>
          <a:xfrm>
            <a:off x="10526248" y="4411615"/>
            <a:ext cx="5957998" cy="2438310"/>
          </a:xfrm>
          <a:prstGeom prst="rect">
            <a:avLst/>
          </a:prstGeom>
        </p:spPr>
        <p:txBody>
          <a:bodyPr lIns="0" tIns="0" rIns="0" bIns="0" rtlCol="0" anchor="t">
            <a:spAutoFit/>
          </a:bodyPr>
          <a:lstStyle/>
          <a:p>
            <a:pPr algn="ctr">
              <a:lnSpc>
                <a:spcPts val="9256"/>
              </a:lnSpc>
            </a:pPr>
            <a:r>
              <a:rPr lang="en-US" sz="10400" b="1" spc="-145">
                <a:solidFill>
                  <a:srgbClr val="F6FAFD"/>
                </a:solidFill>
                <a:latin typeface="Open Sauce Heavy"/>
                <a:ea typeface="Open Sauce Heavy"/>
                <a:cs typeface="Open Sauce Heavy"/>
                <a:sym typeface="Open Sauce Heavy"/>
              </a:rPr>
              <a:t>THANK </a:t>
            </a:r>
          </a:p>
          <a:p>
            <a:pPr algn="ctr">
              <a:lnSpc>
                <a:spcPts val="9256"/>
              </a:lnSpc>
            </a:pPr>
            <a:r>
              <a:rPr lang="en-US" sz="10400" b="1" spc="-145">
                <a:solidFill>
                  <a:srgbClr val="F6FAFD"/>
                </a:solidFill>
                <a:latin typeface="Open Sauce Heavy"/>
                <a:ea typeface="Open Sauce Heavy"/>
                <a:cs typeface="Open Sauce Heavy"/>
                <a:sym typeface="Open Sauce Heavy"/>
              </a:rPr>
              <a:t>YOU</a:t>
            </a:r>
          </a:p>
        </p:txBody>
      </p:sp>
      <p:sp>
        <p:nvSpPr>
          <p:cNvPr id="8" name="AutoShape 8"/>
          <p:cNvSpPr/>
          <p:nvPr/>
        </p:nvSpPr>
        <p:spPr>
          <a:xfrm>
            <a:off x="8550112" y="5473608"/>
            <a:ext cx="2169685" cy="0"/>
          </a:xfrm>
          <a:prstGeom prst="line">
            <a:avLst/>
          </a:prstGeom>
          <a:ln w="19050" cap="flat">
            <a:solidFill>
              <a:srgbClr val="F6FAFD"/>
            </a:solidFill>
            <a:prstDash val="solid"/>
            <a:headEnd type="none" w="sm" len="sm"/>
            <a:tailEnd type="none" w="sm" len="sm"/>
          </a:ln>
        </p:spPr>
        <p:txBody>
          <a:bodyPr/>
          <a:lstStyle/>
          <a:p>
            <a:endParaRPr lang="it-IT"/>
          </a:p>
        </p:txBody>
      </p:sp>
      <p:sp>
        <p:nvSpPr>
          <p:cNvPr id="9" name="Freeform 9"/>
          <p:cNvSpPr/>
          <p:nvPr/>
        </p:nvSpPr>
        <p:spPr>
          <a:xfrm>
            <a:off x="12884689" y="3219288"/>
            <a:ext cx="1183965" cy="831021"/>
          </a:xfrm>
          <a:custGeom>
            <a:avLst/>
            <a:gdLst/>
            <a:ahLst/>
            <a:cxnLst/>
            <a:rect l="l" t="t" r="r" b="b"/>
            <a:pathLst>
              <a:path w="1183965" h="831021">
                <a:moveTo>
                  <a:pt x="0" y="0"/>
                </a:moveTo>
                <a:lnTo>
                  <a:pt x="1183965" y="0"/>
                </a:lnTo>
                <a:lnTo>
                  <a:pt x="1183965" y="831021"/>
                </a:lnTo>
                <a:lnTo>
                  <a:pt x="0" y="8310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it-IT"/>
          </a:p>
        </p:txBody>
      </p:sp>
      <p:sp>
        <p:nvSpPr>
          <p:cNvPr id="10" name="TextBox 10"/>
          <p:cNvSpPr txBox="1"/>
          <p:nvPr/>
        </p:nvSpPr>
        <p:spPr>
          <a:xfrm>
            <a:off x="9460481" y="6802300"/>
            <a:ext cx="8089531" cy="389237"/>
          </a:xfrm>
          <a:prstGeom prst="rect">
            <a:avLst/>
          </a:prstGeom>
        </p:spPr>
        <p:txBody>
          <a:bodyPr lIns="0" tIns="0" rIns="0" bIns="0" rtlCol="0" anchor="t">
            <a:spAutoFit/>
          </a:bodyPr>
          <a:lstStyle/>
          <a:p>
            <a:pPr algn="ctr">
              <a:lnSpc>
                <a:spcPts val="3219"/>
              </a:lnSpc>
            </a:pPr>
            <a:r>
              <a:rPr lang="en-US" sz="2299" b="1" spc="-45">
                <a:solidFill>
                  <a:srgbClr val="F6FAFD"/>
                </a:solidFill>
                <a:latin typeface="Open Sauce Bold"/>
                <a:ea typeface="Open Sauce Bold"/>
                <a:cs typeface="Open Sauce Bold"/>
                <a:sym typeface="Open Sauce Bold"/>
              </a:rPr>
              <a:t>Thank You for your attention!</a:t>
            </a:r>
          </a:p>
        </p:txBody>
      </p:sp>
      <p:sp>
        <p:nvSpPr>
          <p:cNvPr id="11" name="AutoShape 11"/>
          <p:cNvSpPr/>
          <p:nvPr/>
        </p:nvSpPr>
        <p:spPr>
          <a:xfrm>
            <a:off x="15984965" y="5483133"/>
            <a:ext cx="2169685" cy="0"/>
          </a:xfrm>
          <a:prstGeom prst="line">
            <a:avLst/>
          </a:prstGeom>
          <a:ln w="19050" cap="flat">
            <a:solidFill>
              <a:srgbClr val="F6FAFD"/>
            </a:solidFill>
            <a:prstDash val="solid"/>
            <a:headEnd type="none" w="sm" len="sm"/>
            <a:tailEnd type="none" w="sm" len="sm"/>
          </a:ln>
        </p:spPr>
        <p:txBody>
          <a:bodyPr/>
          <a:lstStyle/>
          <a:p>
            <a:endParaRPr lang="it-IT"/>
          </a:p>
        </p:txBody>
      </p:sp>
      <p:pic>
        <p:nvPicPr>
          <p:cNvPr id="13" name="Immagine 12">
            <a:extLst>
              <a:ext uri="{FF2B5EF4-FFF2-40B4-BE49-F238E27FC236}">
                <a16:creationId xmlns:a16="http://schemas.microsoft.com/office/drawing/2014/main" id="{9B165F80-1105-2125-02F0-7A0981286F60}"/>
              </a:ext>
            </a:extLst>
          </p:cNvPr>
          <p:cNvPicPr>
            <a:picLocks noChangeAspect="1"/>
          </p:cNvPicPr>
          <p:nvPr/>
        </p:nvPicPr>
        <p:blipFill>
          <a:blip r:embed="rId4"/>
          <a:stretch>
            <a:fillRect/>
          </a:stretch>
        </p:blipFill>
        <p:spPr>
          <a:xfrm>
            <a:off x="-169730" y="-114300"/>
            <a:ext cx="18610130" cy="10557671"/>
          </a:xfrm>
          <a:prstGeom prst="rect">
            <a:avLst/>
          </a:prstGeom>
        </p:spPr>
      </p:pic>
    </p:spTree>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1608</Words>
  <Application>Microsoft Office PowerPoint</Application>
  <PresentationFormat>Personalizzato</PresentationFormat>
  <Paragraphs>218</Paragraphs>
  <Slides>15</Slides>
  <Notes>8</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15</vt:i4>
      </vt:variant>
    </vt:vector>
  </HeadingPairs>
  <TitlesOfParts>
    <vt:vector size="25" baseType="lpstr">
      <vt:lpstr>DM Serif Display</vt:lpstr>
      <vt:lpstr>Canva Sans Bold</vt:lpstr>
      <vt:lpstr>Open Sauce Bold</vt:lpstr>
      <vt:lpstr>Aptos</vt:lpstr>
      <vt:lpstr>Open Sauce Heavy</vt:lpstr>
      <vt:lpstr>Arial</vt:lpstr>
      <vt:lpstr>Open Sauce</vt:lpstr>
      <vt:lpstr>Canva Sans</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Mezzanzanica Chiara 895530 Nucci Nicolò</dc:title>
  <dc:creator>Chiara Mezzanzanica</dc:creator>
  <cp:lastModifiedBy>Chiara Mezzanzanica</cp:lastModifiedBy>
  <cp:revision>4</cp:revision>
  <dcterms:created xsi:type="dcterms:W3CDTF">2006-08-16T00:00:00Z</dcterms:created>
  <dcterms:modified xsi:type="dcterms:W3CDTF">2026-06-22T14:27:15Z</dcterms:modified>
  <dc:identifier>DAHKH1hCHDE</dc:identifier>
</cp:coreProperties>
</file>